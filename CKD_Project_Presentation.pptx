
<file path=[Content_Types].xml><?xml version="1.0" encoding="utf-8"?>
<Types xmlns="http://schemas.openxmlformats.org/package/2006/content-types"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70"/>
    <p:restoredTop sz="94589"/>
  </p:normalViewPr>
  <p:slideViewPr>
    <p:cSldViewPr snapToGrid="0" snapToObjects="1">
      <p:cViewPr varScale="1">
        <p:scale>
          <a:sx n="113" d="100"/>
          <a:sy n="113" d="100"/>
        </p:scale>
        <p:origin x="4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9863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9140450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— I'm happy to take any questions. The GitHub repository README has links to the full notebook, the written report, and the live deployed app if you'd like to try it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6" Type="http://schemas.openxmlformats.org/officeDocument/2006/relationships/image" Target="../media/image1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7.m4a"/><Relationship Id="rId1" Type="http://schemas.microsoft.com/office/2007/relationships/media" Target="../media/media7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8.m4a"/><Relationship Id="rId1" Type="http://schemas.microsoft.com/office/2007/relationships/media" Target="../media/media8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9.m4a"/><Relationship Id="rId1" Type="http://schemas.microsoft.com/office/2007/relationships/media" Target="../media/media9.m4a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0.m4a"/><Relationship Id="rId1" Type="http://schemas.microsoft.com/office/2007/relationships/media" Target="../media/media10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1.m4a"/><Relationship Id="rId1" Type="http://schemas.microsoft.com/office/2007/relationships/media" Target="../media/media11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2.m4a"/><Relationship Id="rId1" Type="http://schemas.microsoft.com/office/2007/relationships/media" Target="../media/media12.m4a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00A896">
              <a:alpha val="20000"/>
            </a:srgbClr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— DATA MINING &amp; MACHINE LEARNING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601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Chronic Kidney Disease</a:t>
            </a:r>
            <a:endParaRPr lang="en-US" sz="4600" dirty="0"/>
          </a:p>
          <a:p>
            <a:pPr marL="0" indent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8862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B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machine learning pipeline for early CKD detection</a:t>
            </a:r>
            <a:endParaRPr lang="en-US" sz="16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B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routine clinical and laboratory measurements</a:t>
            </a:r>
            <a:endParaRPr lang="en-US" sz="1600" dirty="0"/>
          </a:p>
        </p:txBody>
      </p:sp>
      <p:pic>
        <p:nvPicPr>
          <p:cNvPr id="65" name="Audio 64">
            <a:extLst>
              <a:ext uri="{FF2B5EF4-FFF2-40B4-BE49-F238E27FC236}">
                <a16:creationId xmlns:a16="http://schemas.microsoft.com/office/drawing/2014/main" id="{432EBBE3-C450-EEA9-8A6D-AC0A1AEF811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4340"/>
    </mc:Choice>
    <mc:Fallback>
      <p:transition spd="slow" advTm="2434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 &amp; OBJECTIVE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Chronic Kidney Disease?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53384" cy="4206240"/>
          </a:xfrm>
          <a:prstGeom prst="roundRect">
            <a:avLst>
              <a:gd name="adj" fmla="val 3177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1B2A2F">
                <a:alpha val="1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5" name="Shape 3"/>
          <p:cNvSpPr/>
          <p:nvPr/>
        </p:nvSpPr>
        <p:spPr>
          <a:xfrm>
            <a:off x="868680" y="20574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2904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progression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2904744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CKD often shows no symptoms until kidney function has already declined significantly.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67784" y="1737360"/>
            <a:ext cx="3453384" cy="4206240"/>
          </a:xfrm>
          <a:prstGeom prst="roundRect">
            <a:avLst>
              <a:gd name="adj" fmla="val 3177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1B2A2F">
                <a:alpha val="1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0" name="Shape 8"/>
          <p:cNvSpPr/>
          <p:nvPr/>
        </p:nvSpPr>
        <p:spPr>
          <a:xfrm>
            <a:off x="4687824" y="20574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1" name="Text 9"/>
          <p:cNvSpPr/>
          <p:nvPr/>
        </p:nvSpPr>
        <p:spPr>
          <a:xfrm>
            <a:off x="4687824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</a:rPr>
              <a:t>🩸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42104" y="2880360"/>
            <a:ext cx="2904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Detectable early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42104" y="3383280"/>
            <a:ext cx="2904744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blood &amp; urine tests (creatinine, hemoglobin, albumin...) carry early warning signals.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6928" y="1737360"/>
            <a:ext cx="3453384" cy="4206240"/>
          </a:xfrm>
          <a:prstGeom prst="roundRect">
            <a:avLst>
              <a:gd name="adj" fmla="val 3177"/>
            </a:avLst>
          </a:prstGeom>
          <a:solidFill>
            <a:srgbClr val="F2F7F7"/>
          </a:solidFill>
          <a:ln/>
          <a:effectLst>
            <a:outerShdw blurRad="101600" dist="38100" dir="5400000" algn="bl" rotWithShape="0">
              <a:srgbClr val="1B2A2F">
                <a:alpha val="1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5" name="Shape 13"/>
          <p:cNvSpPr/>
          <p:nvPr/>
        </p:nvSpPr>
        <p:spPr>
          <a:xfrm>
            <a:off x="8506968" y="20574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6" name="Text 14"/>
          <p:cNvSpPr/>
          <p:nvPr/>
        </p:nvSpPr>
        <p:spPr>
          <a:xfrm>
            <a:off x="8506968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</a:rPr>
              <a:t>🎯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1248" y="2880360"/>
            <a:ext cx="2904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objective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1248" y="3383280"/>
            <a:ext cx="2904744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CKD vs. not-CKD from 24 routine clinical features, and identify which measurements matter most.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</a:t>
            </a:r>
            <a:r>
              <a:rPr lang="en-US" sz="1400" i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patient's routine clinical and laboratory measurements, can we predict whether they have CKD — and which measurements matter most?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pic>
        <p:nvPicPr>
          <p:cNvPr id="42" name="Audio 41">
            <a:extLst>
              <a:ext uri="{FF2B5EF4-FFF2-40B4-BE49-F238E27FC236}">
                <a16:creationId xmlns:a16="http://schemas.microsoft.com/office/drawing/2014/main" id="{E809DA82-0F7A-65B3-8442-C815CE61691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4320"/>
    </mc:Choice>
    <mc:Fallback>
      <p:transition spd="slow" advTm="343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4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1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2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DATASET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genuinely messy, real dataset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Machine Learning Repository — Chronic Kidney Disease dataset, Tamil Nadu, India hospital, 2015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013A4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306324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records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210312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013A4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3337560" y="228600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337560" y="306324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columns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013A4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2" name="Text 10"/>
          <p:cNvSpPr/>
          <p:nvPr/>
        </p:nvSpPr>
        <p:spPr>
          <a:xfrm>
            <a:off x="548640" y="429768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1,012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48640" y="50749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cells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411480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013A4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5" name="Text 13"/>
          <p:cNvSpPr/>
          <p:nvPr/>
        </p:nvSpPr>
        <p:spPr>
          <a:xfrm>
            <a:off x="3337560" y="429768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 / 150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337560" y="50749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CKD / not-CKD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21031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NOT a clean dataset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309360" y="2660904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9" name="Text 17"/>
          <p:cNvSpPr/>
          <p:nvPr/>
        </p:nvSpPr>
        <p:spPr>
          <a:xfrm>
            <a:off x="6583680" y="253288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 scattered across nearly every column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309360" y="3227832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6583680" y="309981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literal "?" used as a missing-value marker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09360" y="3794760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3" name="Text 21"/>
          <p:cNvSpPr/>
          <p:nvPr/>
        </p:nvSpPr>
        <p:spPr>
          <a:xfrm>
            <a:off x="6583680" y="366674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tab characters inside cell values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309360" y="4361688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6583680" y="423367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columns stored as text due to stray tokens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309360" y="4928616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7" name="Text 25"/>
          <p:cNvSpPr/>
          <p:nvPr/>
        </p:nvSpPr>
        <p:spPr>
          <a:xfrm>
            <a:off x="6583680" y="4800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corrupted target label requiring a fix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pic>
        <p:nvPicPr>
          <p:cNvPr id="86" name="Audio 85">
            <a:extLst>
              <a:ext uri="{FF2B5EF4-FFF2-40B4-BE49-F238E27FC236}">
                <a16:creationId xmlns:a16="http://schemas.microsoft.com/office/drawing/2014/main" id="{4ED0A41E-0159-617A-FE07-939EEF941AA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0060"/>
    </mc:Choice>
    <mc:Fallback>
      <p:transition spd="slow" advTm="400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DATA CLEANING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mess to model-ready</a:t>
            </a:r>
            <a:endParaRPr lang="en-US" sz="3200" dirty="0"/>
          </a:p>
        </p:txBody>
      </p:sp>
      <p:pic>
        <p:nvPicPr>
          <p:cNvPr id="4" name="Image 0" descr="/home/claude/ckd_project/figures/00_missingn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554480"/>
            <a:ext cx="4937760" cy="2468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75120" y="40233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 per column, before imputation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" name="Text 4"/>
          <p:cNvSpPr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188720" y="1645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&amp; standardize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188720" y="201168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Whitespace/tabs removed; "?" and blanks unified to NaN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5603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1" name="Text 8"/>
          <p:cNvSpPr/>
          <p:nvPr/>
        </p:nvSpPr>
        <p:spPr>
          <a:xfrm>
            <a:off x="5486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88720" y="2514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labels &amp; types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88720" y="288036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Corrupted target label repaired; numeric columns coerced back from text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4290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5" name="Text 12"/>
          <p:cNvSpPr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18872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identifier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188720" y="37490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column carries no predictive information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9" name="Text 16"/>
          <p:cNvSpPr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188720" y="4251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88720" y="46177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→ column median (robust to skewed labs); categorical → column mode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5532120"/>
            <a:ext cx="5760720" cy="777240"/>
          </a:xfrm>
          <a:prstGeom prst="roundRect">
            <a:avLst>
              <a:gd name="adj" fmla="val 11765"/>
            </a:avLst>
          </a:prstGeom>
          <a:solidFill>
            <a:srgbClr val="013A4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3" name="Text 20"/>
          <p:cNvSpPr/>
          <p:nvPr/>
        </p:nvSpPr>
        <p:spPr>
          <a:xfrm>
            <a:off x="777240" y="553212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0 missing values across 400 rows × 24 usable features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pic>
        <p:nvPicPr>
          <p:cNvPr id="29" name="Audio 28">
            <a:extLst>
              <a:ext uri="{FF2B5EF4-FFF2-40B4-BE49-F238E27FC236}">
                <a16:creationId xmlns:a16="http://schemas.microsoft.com/office/drawing/2014/main" id="{FF407AAA-3043-BA7D-4E6C-15C57FBD479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2060"/>
    </mc:Choice>
    <mc:Fallback>
      <p:transition spd="slow" advTm="520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2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1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9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EXPLORATORY DATA ANALYSIS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clinical signal is visible early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6+ variables examined, univariate + bivariate, across 5 plot types</a:t>
            </a:r>
            <a:endParaRPr lang="en-US" sz="1300" dirty="0"/>
          </a:p>
        </p:txBody>
      </p:sp>
      <p:pic>
        <p:nvPicPr>
          <p:cNvPr id="5" name="Image 0" descr="/home/claude/ckd_project/figures/04_bivariate_boxplo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20"/>
            <a:ext cx="6949440" cy="3703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57784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features vs. classification (bivariate)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818120" y="18745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reading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818120" y="2432304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9" name="Text 6"/>
          <p:cNvSpPr/>
          <p:nvPr/>
        </p:nvSpPr>
        <p:spPr>
          <a:xfrm>
            <a:off x="8092440" y="22860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Hemoglobin &amp; packed-cell-volume are visibly lower in CKD patients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818120" y="3300984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1" name="Text 8"/>
          <p:cNvSpPr/>
          <p:nvPr/>
        </p:nvSpPr>
        <p:spPr>
          <a:xfrm>
            <a:off x="8092440" y="315468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creatinine is visibly higher in CKD patients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818120" y="4169664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3" name="Text 10"/>
          <p:cNvSpPr/>
          <p:nvPr/>
        </p:nvSpPr>
        <p:spPr>
          <a:xfrm>
            <a:off x="8092440" y="402336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clinical expectations — a good sanity check on the cleaned data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818120" y="5038344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5" name="Text 12"/>
          <p:cNvSpPr/>
          <p:nvPr/>
        </p:nvSpPr>
        <p:spPr>
          <a:xfrm>
            <a:off x="8092440" y="489204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plot types used: histograms, boxplots, count plots, stacked bar, correlation heatmap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pic>
        <p:nvPicPr>
          <p:cNvPr id="41" name="Audio 40">
            <a:extLst>
              <a:ext uri="{FF2B5EF4-FFF2-40B4-BE49-F238E27FC236}">
                <a16:creationId xmlns:a16="http://schemas.microsoft.com/office/drawing/2014/main" id="{DC0C96FE-B8E5-4A27-9738-F9F1EE2F6DB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5300"/>
    </mc:Choice>
    <mc:Fallback>
      <p:transition spd="slow" advTm="353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1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EXPLORATORY DATA ANALYSIS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features relate to each other</a:t>
            </a:r>
            <a:endParaRPr lang="en-US" sz="3200" dirty="0"/>
          </a:p>
        </p:txBody>
      </p:sp>
      <p:pic>
        <p:nvPicPr>
          <p:cNvPr id="4" name="Image 0" descr="/home/claude/ckd_project/figures/05_correlation_heat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8920" y="1463040"/>
            <a:ext cx="6583680" cy="5074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pic>
        <p:nvPicPr>
          <p:cNvPr id="21" name="Audio 20">
            <a:extLst>
              <a:ext uri="{FF2B5EF4-FFF2-40B4-BE49-F238E27FC236}">
                <a16:creationId xmlns:a16="http://schemas.microsoft.com/office/drawing/2014/main" id="{F2B9541D-BEFB-6A1B-9292-7510A04A7E5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7820"/>
    </mc:Choice>
    <mc:Fallback>
      <p:transition spd="slow" advTm="278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1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FEATURE ENGINEERING &amp; SELECTION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clinical knowledge, then trimming noise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12080" cy="4297680"/>
          </a:xfrm>
          <a:prstGeom prst="roundRect">
            <a:avLst>
              <a:gd name="adj" fmla="val 2553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5" name="Text 3"/>
          <p:cNvSpPr/>
          <p:nvPr/>
        </p:nvSpPr>
        <p:spPr>
          <a:xfrm>
            <a:off x="86868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engineered feature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bun_creatinine_ratio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Urea Nitrogen ÷ Serum Creatinine — a recognized nephrology marker used to distinguish pre-renal from intrinsic renal causes of dysfunction. Added explicitly rather than left for the model to infer implicitly from the two raw columns.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4572000"/>
            <a:ext cx="4480560" cy="0"/>
          </a:xfrm>
          <a:prstGeom prst="line">
            <a:avLst/>
          </a:prstGeom>
          <a:noFill/>
          <a:ln w="12700">
            <a:solidFill>
              <a:srgbClr val="D7E4E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868680" y="47548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— filter method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521208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SelectKBest with the ANOVA F-statistic scores each feature's individual relationship with the target, independent of any model — fast, model-agnostic first pass. Top 12 features kept.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80760" y="1737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features (top 12)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80760" y="2240280"/>
            <a:ext cx="1005840" cy="438912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6080760" y="2240280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269480" y="2240280"/>
            <a:ext cx="1005840" cy="438912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5" name="Text 13"/>
          <p:cNvSpPr/>
          <p:nvPr/>
        </p:nvSpPr>
        <p:spPr>
          <a:xfrm>
            <a:off x="7269480" y="2240280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458200" y="2240280"/>
            <a:ext cx="1005840" cy="438912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8458200" y="2240280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46920" y="2240280"/>
            <a:ext cx="1005840" cy="438912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9" name="Text 17"/>
          <p:cNvSpPr/>
          <p:nvPr/>
        </p:nvSpPr>
        <p:spPr>
          <a:xfrm>
            <a:off x="9646920" y="2240280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bgr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2807208"/>
            <a:ext cx="1133856" cy="438912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6080760" y="2807208"/>
            <a:ext cx="113385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hemo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397496" y="2807208"/>
            <a:ext cx="1005840" cy="438912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3" name="Text 21"/>
          <p:cNvSpPr/>
          <p:nvPr/>
        </p:nvSpPr>
        <p:spPr>
          <a:xfrm>
            <a:off x="7397496" y="2807208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pcv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586216" y="2807208"/>
            <a:ext cx="1005840" cy="438912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8586216" y="2807208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rc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774936" y="2807208"/>
            <a:ext cx="1005840" cy="43891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7" name="Text 25"/>
          <p:cNvSpPr/>
          <p:nvPr/>
        </p:nvSpPr>
        <p:spPr>
          <a:xfrm>
            <a:off x="9774936" y="2807208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htn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080760" y="3374136"/>
            <a:ext cx="1005840" cy="43891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9" name="Text 27"/>
          <p:cNvSpPr/>
          <p:nvPr/>
        </p:nvSpPr>
        <p:spPr>
          <a:xfrm>
            <a:off x="6080760" y="3374136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269480" y="3374136"/>
            <a:ext cx="1280160" cy="43891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1" name="Text 29"/>
          <p:cNvSpPr/>
          <p:nvPr/>
        </p:nvSpPr>
        <p:spPr>
          <a:xfrm>
            <a:off x="7269480" y="3374136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732520" y="3374136"/>
            <a:ext cx="1005840" cy="43891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3" name="Text 31"/>
          <p:cNvSpPr/>
          <p:nvPr/>
        </p:nvSpPr>
        <p:spPr>
          <a:xfrm>
            <a:off x="8732520" y="3374136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080760" y="3941064"/>
            <a:ext cx="3474720" cy="43891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5" name="Text 33"/>
          <p:cNvSpPr/>
          <p:nvPr/>
        </p:nvSpPr>
        <p:spPr>
          <a:xfrm>
            <a:off x="6080760" y="3941064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bun_creatinine_ratio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pic>
        <p:nvPicPr>
          <p:cNvPr id="44" name="Audio 43">
            <a:extLst>
              <a:ext uri="{FF2B5EF4-FFF2-40B4-BE49-F238E27FC236}">
                <a16:creationId xmlns:a16="http://schemas.microsoft.com/office/drawing/2014/main" id="{3B300AD5-6AD9-4CB8-4AC8-28A41AAB763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8180"/>
    </mc:Choice>
    <mc:Fallback>
      <p:transition spd="slow" advTm="4818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" fill="hold"/>
                                        <p:tgtEl>
                                          <p:spTgt spid="4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1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MODELING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algorithms, tuned and validated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53384" cy="2514600"/>
          </a:xfrm>
          <a:prstGeom prst="roundRect">
            <a:avLst>
              <a:gd name="adj" fmla="val 4364"/>
            </a:avLst>
          </a:prstGeom>
          <a:solidFill>
            <a:srgbClr val="013A4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2904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04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B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interpretable linear baseline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520440"/>
            <a:ext cx="2904744" cy="0"/>
          </a:xfrm>
          <a:prstGeom prst="line">
            <a:avLst/>
          </a:prstGeom>
          <a:noFill/>
          <a:ln w="12700">
            <a:solidFill>
              <a:srgbClr val="1B5C61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Text 6"/>
          <p:cNvSpPr/>
          <p:nvPr/>
        </p:nvSpPr>
        <p:spPr>
          <a:xfrm>
            <a:off x="822960" y="3657600"/>
            <a:ext cx="2904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Tuned: C (regularization strength)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7784" y="1737360"/>
            <a:ext cx="3453384" cy="2514600"/>
          </a:xfrm>
          <a:prstGeom prst="roundRect">
            <a:avLst>
              <a:gd name="adj" fmla="val 4364"/>
            </a:avLst>
          </a:prstGeom>
          <a:solidFill>
            <a:srgbClr val="013A4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0" name="Text 8"/>
          <p:cNvSpPr/>
          <p:nvPr/>
        </p:nvSpPr>
        <p:spPr>
          <a:xfrm>
            <a:off x="4642104" y="2011680"/>
            <a:ext cx="2904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42104" y="2560320"/>
            <a:ext cx="2904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B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Bagged tree ensemble — captures non-linear interactions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42104" y="3520440"/>
            <a:ext cx="2904744" cy="0"/>
          </a:xfrm>
          <a:prstGeom prst="line">
            <a:avLst/>
          </a:prstGeom>
          <a:noFill/>
          <a:ln w="12700">
            <a:solidFill>
              <a:srgbClr val="1B5C61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4642104" y="3657600"/>
            <a:ext cx="2904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Tuned: n_estimators, max_depth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86928" y="1737360"/>
            <a:ext cx="3453384" cy="2514600"/>
          </a:xfrm>
          <a:prstGeom prst="roundRect">
            <a:avLst>
              <a:gd name="adj" fmla="val 4364"/>
            </a:avLst>
          </a:prstGeom>
          <a:solidFill>
            <a:srgbClr val="013A4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5" name="Text 13"/>
          <p:cNvSpPr/>
          <p:nvPr/>
        </p:nvSpPr>
        <p:spPr>
          <a:xfrm>
            <a:off x="8461248" y="2011680"/>
            <a:ext cx="2904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461248" y="2560320"/>
            <a:ext cx="2904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B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Margin-based classifier, linear or kernelized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461248" y="3520440"/>
            <a:ext cx="2904744" cy="0"/>
          </a:xfrm>
          <a:prstGeom prst="line">
            <a:avLst/>
          </a:prstGeom>
          <a:noFill/>
          <a:ln w="12700">
            <a:solidFill>
              <a:srgbClr val="1B5C61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8" name="Text 16"/>
          <p:cNvSpPr/>
          <p:nvPr/>
        </p:nvSpPr>
        <p:spPr>
          <a:xfrm>
            <a:off x="8461248" y="3657600"/>
            <a:ext cx="2904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Tuned: C, kernel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4526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method: GridSearchCV, 5-fold cross-validation, optimizing F1-score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49834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tuning matters: hyperparameters aren't learned from data — poor choices cause overfitting (memorizing noise) or underfitting (missing real patterns). Grid search tries every combination and keeps the one with the best cross-validated score, not a single lucky split.</a:t>
            </a:r>
            <a:endParaRPr lang="en-US" sz="1300" dirty="0"/>
          </a:p>
          <a:p>
            <a:pPr marL="0" indent="0">
              <a:lnSpc>
                <a:spcPts val="1700"/>
              </a:lnSpc>
              <a:buNone/>
            </a:pPr>
            <a:endParaRPr lang="en-US" sz="13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validation matters: 5-fold CV picks robust hyperparameters, and a held-out 20% test set (stratified, untouched by training/tuning) gives an unbiased final comparison.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pic>
        <p:nvPicPr>
          <p:cNvPr id="41" name="Audio 40">
            <a:extLst>
              <a:ext uri="{FF2B5EF4-FFF2-40B4-BE49-F238E27FC236}">
                <a16:creationId xmlns:a16="http://schemas.microsoft.com/office/drawing/2014/main" id="{4F845CAC-0204-561C-414C-DDC12733AF8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0800"/>
    </mc:Choice>
    <mc:Fallback>
      <p:transition spd="slow" advTm="408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1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RESULTS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 on the held-out test set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949440" cy="18288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Accuracy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Precision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Recall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F1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ROC-AUC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B2E"/>
                          </a:solidFill>
                        </a:rPr>
                        <a:t>Logistic Regression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0.9875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0.9804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1.0000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0.9901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1.0000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B2E"/>
                          </a:solidFill>
                        </a:rPr>
                        <a:t>Random Forest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0.9875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0.9804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1.0000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0.9901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0.9967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2B2E"/>
                          </a:solidFill>
                        </a:rPr>
                        <a:t>SVM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0.9875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0.9804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1.0000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0.9901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B2B2E"/>
                          </a:solidFill>
                        </a:rPr>
                        <a:t>1.0000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1188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Logistic Regression (highest test-set F1)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0233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tuned models perform strongly and similarly — the classes are well separated once hemoglobin, serum creatinine, specific gravity and albumin are available. Precision and recall both far exceed the project's 0.30 minimum, independently confirmed by tester.py.</a:t>
            </a:r>
            <a:endParaRPr lang="en-US" sz="1300" dirty="0"/>
          </a:p>
        </p:txBody>
      </p:sp>
      <p:pic>
        <p:nvPicPr>
          <p:cNvPr id="7" name="Image 0" descr="/home/claude/ckd_project/figures/07_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1600200"/>
            <a:ext cx="3703320" cy="3703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955280" y="534924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— best model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pic>
        <p:nvPicPr>
          <p:cNvPr id="30" name="Audio 29">
            <a:extLst>
              <a:ext uri="{FF2B5EF4-FFF2-40B4-BE49-F238E27FC236}">
                <a16:creationId xmlns:a16="http://schemas.microsoft.com/office/drawing/2014/main" id="{4B04702F-BF9A-0DDF-6F96-63332C1F26B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0160"/>
    </mc:Choice>
    <mc:Fallback>
      <p:transition spd="slow" advTm="401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0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notebook to a usable web app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76656" y="2103120"/>
            <a:ext cx="2331720" cy="1463040"/>
          </a:xfrm>
          <a:prstGeom prst="roundRect">
            <a:avLst>
              <a:gd name="adj" fmla="val 6250"/>
            </a:avLst>
          </a:prstGeom>
          <a:solidFill>
            <a:srgbClr val="013A4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5" name="Text 3"/>
          <p:cNvSpPr/>
          <p:nvPr/>
        </p:nvSpPr>
        <p:spPr>
          <a:xfrm>
            <a:off x="676656" y="210312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</a:t>
            </a:r>
            <a:endParaRPr lang="en-US" sz="13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scaler</a:t>
            </a:r>
            <a:endParaRPr lang="en-US" sz="13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encoders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008376" y="2103120"/>
            <a:ext cx="502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11296" y="2103120"/>
            <a:ext cx="2331720" cy="1463040"/>
          </a:xfrm>
          <a:prstGeom prst="roundRect">
            <a:avLst>
              <a:gd name="adj" fmla="val 625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8" name="Text 6"/>
          <p:cNvSpPr/>
          <p:nvPr/>
        </p:nvSpPr>
        <p:spPr>
          <a:xfrm>
            <a:off x="3511296" y="210312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3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843016" y="2103120"/>
            <a:ext cx="502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345936" y="2103120"/>
            <a:ext cx="2331720" cy="1463040"/>
          </a:xfrm>
          <a:prstGeom prst="roundRect">
            <a:avLst>
              <a:gd name="adj" fmla="val 6250"/>
            </a:avLst>
          </a:prstGeom>
          <a:solidFill>
            <a:srgbClr val="013A4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1" name="Text 9"/>
          <p:cNvSpPr/>
          <p:nvPr/>
        </p:nvSpPr>
        <p:spPr>
          <a:xfrm>
            <a:off x="6345936" y="210312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enters</a:t>
            </a:r>
            <a:endParaRPr lang="en-US" sz="13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values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677656" y="2103120"/>
            <a:ext cx="502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9180576" y="2103120"/>
            <a:ext cx="2331720" cy="1463040"/>
          </a:xfrm>
          <a:prstGeom prst="roundRect">
            <a:avLst>
              <a:gd name="adj" fmla="val 625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4" name="Text 12"/>
          <p:cNvSpPr/>
          <p:nvPr/>
        </p:nvSpPr>
        <p:spPr>
          <a:xfrm>
            <a:off x="9180576" y="210312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CKD risk +</a:t>
            </a:r>
            <a:endParaRPr lang="en-US" sz="13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shown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2960" y="4169664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6" name="Text 14"/>
          <p:cNvSpPr/>
          <p:nvPr/>
        </p:nvSpPr>
        <p:spPr>
          <a:xfrm>
            <a:off x="1143000" y="400507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preprocessing artifacts saved: model, scaler, label encoders, selected feature list, imputation medians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" y="4809744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8" name="Text 16"/>
          <p:cNvSpPr/>
          <p:nvPr/>
        </p:nvSpPr>
        <p:spPr>
          <a:xfrm>
            <a:off x="1143000" y="464515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form lets a user enter a patient's clinical values and get an instant prediction + probability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960" y="5449824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0" name="Text 18"/>
          <p:cNvSpPr/>
          <p:nvPr/>
        </p:nvSpPr>
        <p:spPr>
          <a:xfrm>
            <a:off x="1143000" y="528523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for free on Streamlit Community Cloud → public URL, satisfying the project's deployment requirement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pic>
        <p:nvPicPr>
          <p:cNvPr id="34" name="Audio 33">
            <a:extLst>
              <a:ext uri="{FF2B5EF4-FFF2-40B4-BE49-F238E27FC236}">
                <a16:creationId xmlns:a16="http://schemas.microsoft.com/office/drawing/2014/main" id="{6042759D-24AB-F683-D8E5-D6E615A633A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4460"/>
    </mc:Choice>
    <mc:Fallback>
      <p:transition spd="slow" advTm="344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4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028090">
              <a:alpha val="25000"/>
            </a:srgbClr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CONCLUSION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shows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15798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" name="Text 5"/>
          <p:cNvSpPr/>
          <p:nvPr/>
        </p:nvSpPr>
        <p:spPr>
          <a:xfrm>
            <a:off x="822960" y="20116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messy data can be cleaned transparently and auditably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93522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822960" y="278892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across many variables confirms known clinical markers drive the signal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1246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+ filter selection sharpen the input space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16916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delivered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09360" y="215798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tuned algorithms validated rigorously (CV + held-out test)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293522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6" name="Text 14"/>
          <p:cNvSpPr/>
          <p:nvPr/>
        </p:nvSpPr>
        <p:spPr>
          <a:xfrm>
            <a:off x="6583680" y="278892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Strong, honest performance — precision &amp; recall far above requirement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371246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8" name="Text 16"/>
          <p:cNvSpPr/>
          <p:nvPr/>
        </p:nvSpPr>
        <p:spPr>
          <a:xfrm>
            <a:off x="6583680" y="35661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deployed app closes the loop from data to decision support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11064240" cy="0"/>
          </a:xfrm>
          <a:prstGeom prst="line">
            <a:avLst/>
          </a:prstGeom>
          <a:noFill/>
          <a:ln w="12700">
            <a:solidFill>
              <a:srgbClr val="1B5C61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0" name="Text 18"/>
          <p:cNvSpPr/>
          <p:nvPr/>
        </p:nvSpPr>
        <p:spPr>
          <a:xfrm>
            <a:off x="54864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" y="48006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Single-hospital, 400-patient dataset — external multi-site validation needed before real clinical use. Median/mode imputation could be replaced with model-based imputation. Explainable-AI methods (e.g. SHAP) could make individual predictions more interpretable for clinicians.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pic>
        <p:nvPicPr>
          <p:cNvPr id="33" name="Audio 32">
            <a:extLst>
              <a:ext uri="{FF2B5EF4-FFF2-40B4-BE49-F238E27FC236}">
                <a16:creationId xmlns:a16="http://schemas.microsoft.com/office/drawing/2014/main" id="{D941272F-AB2F-C383-2690-A8495FBBD27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880"/>
    </mc:Choice>
    <mc:Fallback>
      <p:transition spd="slow" advTm="3088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3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845A0EE-C4C8-4AE1-B3C6-1261368AC0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468548" cy="6858000"/>
          </a:xfrm>
          <a:prstGeom prst="rect">
            <a:avLst/>
          </a:prstGeom>
          <a:solidFill>
            <a:srgbClr val="4866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DEBAEC-52CC-F2F6-3894-8C9C444D1F4A}"/>
              </a:ext>
            </a:extLst>
          </p:cNvPr>
          <p:cNvSpPr txBox="1"/>
          <p:nvPr/>
        </p:nvSpPr>
        <p:spPr>
          <a:xfrm>
            <a:off x="621629" y="640080"/>
            <a:ext cx="4225290" cy="55788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 streamlit app screenshot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C5A6AD-EBEE-C9AD-2903-FB4AAC2A523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957" t="16603" r="28724" b="6328"/>
          <a:stretch>
            <a:fillRect/>
          </a:stretch>
        </p:blipFill>
        <p:spPr>
          <a:xfrm>
            <a:off x="6357943" y="640080"/>
            <a:ext cx="4935584" cy="5578816"/>
          </a:xfrm>
          <a:prstGeom prst="rect">
            <a:avLst/>
          </a:prstGeom>
        </p:spPr>
      </p:pic>
      <p:pic>
        <p:nvPicPr>
          <p:cNvPr id="36" name="Audio 35">
            <a:extLst>
              <a:ext uri="{FF2B5EF4-FFF2-40B4-BE49-F238E27FC236}">
                <a16:creationId xmlns:a16="http://schemas.microsoft.com/office/drawing/2014/main" id="{85BDA0FD-D3C2-535F-F74D-9EC73BA2091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5779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840"/>
    </mc:Choice>
    <mc:Fallback>
      <p:transition spd="slow" advTm="784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6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2926080"/>
            <a:ext cx="5486400" cy="5486400"/>
          </a:xfrm>
          <a:prstGeom prst="ellipse">
            <a:avLst/>
          </a:prstGeom>
          <a:solidFill>
            <a:srgbClr val="028090">
              <a:alpha val="28000"/>
            </a:srgbClr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Repository, notebook, report, and live app link available in the project README.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822"/>
    </mc:Choice>
    <mc:Fallback>
      <p:transition spd="slow" advTm="3822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1108</TotalTime>
  <Words>1024</Words>
  <Application>Microsoft Macintosh PowerPoint</Application>
  <PresentationFormat>Widescreen</PresentationFormat>
  <Paragraphs>182</Paragraphs>
  <Slides>13</Slides>
  <Notes>13</Notes>
  <HiddenSlides>0</HiddenSlides>
  <MMClips>12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Ahmed abdelmonem reyad</cp:lastModifiedBy>
  <cp:revision>4</cp:revision>
  <dcterms:created xsi:type="dcterms:W3CDTF">2026-08-11T22:13:16Z</dcterms:created>
  <dcterms:modified xsi:type="dcterms:W3CDTF">2026-08-14T16:22:14Z</dcterms:modified>
</cp:coreProperties>
</file>