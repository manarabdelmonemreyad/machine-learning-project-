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8"/>
    <p:restoredTop sz="94610"/>
  </p:normalViewPr>
  <p:slideViewPr>
    <p:cSldViewPr snapToGrid="0" snapToObjects="1">
      <p:cViewPr>
        <p:scale>
          <a:sx n="102" d="100"/>
          <a:sy n="102" d="100"/>
        </p:scale>
        <p:origin x="-144" y="5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89863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Today I'm presenting my CBIO313 final project: a machine-learning system that predicts Chronic Kidney Disease from a patient's routine clinical and laboratory measurements. I'll walk through the problem, the dataset, how I cleaned and explored the data, the models I built and tuned, the results, and finally the deployed web app.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Kidney Disease is a progressive condition that's often silent — by the time a patient notices symptoms, kidney function may already be significantly reduced. The good news is that it's detectable early through routine blood and urine tests. So the objective of this project is: given a patient's routine clinical measurements, can we predict whether they have CKD, and which of those measurements matter most for that prediction?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comes from the UCI repository: 400 patients, 25 raw columns, collected at a hospital in Tamil Nadu over about two months. I deliberately used the raw, unprocessed version rather than a pre-cleaned variant, because the project criteria specifically require proving the data is not already clean. And it isn't — there are just over a thousand missing cells, a literal question mark used as a missing-value placeholder, stray tab characters inside values, numeric columns that got stored as text because of those stray tokens, and even one corrupted target label. All of this had to be handled explicitly, which I'll show next.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cleaning step is documented in the notebook so it's fully auditable. First I strip whitespace and tabs and standardize every missing-value marker to NaN. Then I fix the corrupted target label and coerce columns that should be numeric — like packed cell volume — back from text. I drop the id column since it's just a row index. Finally I impute: numeric columns with the median, since lab values like serum creatinine are heavily skewed by sick patients, and categorical columns with the mode. The chart on the right shows exactly where the missing values were concentrated before this step. After cleaning, there are zero missing values left.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exploratory analysis I looked at more than six variables, both on their own — univariate — and against the target — bivariate — using five different plot types. This chart shows six numeric features split by CKD versus not-CKD. Hemoglobin and packed cell volume are visibly lower in CKD patients, and serum creatinine is visibly higher — exactly what you'd expect clinically, since creatinine builds up when kidneys can't filter it properly. This was also a useful sanity check that the cleaning step preserved the real medical signal rather than distorting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correlation heatmap looks at all numeric features together. Hemoglobin and packed cell volume correlate strongly negatively with CKD — higher values mean lower CKD likelihood — while serum creatinine, blood urea, and albumin correlate positively. This multivariate view is what guided the feature engineering and feature selection I'll describe next.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happen at this stage. First, feature engineering: I added a new feature, the BUN-to-creatinine ratio, which is a recognized clinical marker in nephrology. Rather than hoping the model would discover this relationship on its own from the two raw columns, I computed it directly. Second, feature selection: I used SelectKBest with the ANOVA F-statistic, a filter method that scores each feature's relationship with the target independently of any particular model, and kept the top twelve — shown here as chips, including specific gravity, albumin, hemoglobin, packed cell volume, and our new engineered ratio.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modeling I trained and tuned three algorithms from different families: Logistic Regression as a simple linear baseline, Random Forest as a tree ensemble that captures non-linear interactions, and SVM as a margin-based classifier. Each was tuned with GridSearchCV using 5-fold cross-validation, optimizing F1-score. Hyperparameters aren't learned from the data directly — get them wrong and you either overfit, memorizing training noise, or underfit, missing real patterns. Grid search tries every combination in a small grid and keeps the best cross-validated one. And for the final comparison, I used a held-out test set — twenty percent of the data that no training or tuning step ever touched — so the numbers on the next slide are an honest measure of generalization.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final numbers on the held-out test set. All three tuned models land in a similar, very strong range — accuracy around 98.75 percent, and an F1-score around 0.99. That tells us the classes are genuinely well separated once you have hemoglobin, serum creatinine, specific gravity and albumin available. I selected Logistic Regression as the deployed model since it had the best test-set F1, though realistically all three would be reasonable choices here. Both precision and recall are far above the project's minimum requirement of 0.30, which I also verified independently with a separate tester.py script that reloads the saved model without retraining. The confusion matrix on the right shows only one misclassification out of eighty test patients.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deployment. Everything the app needs was saved as artifacts during training: the model itself, the fitted scaler, the label encoders for categorical inputs, the list of selected features, and the imputation medians. A Streamlit app, app.py, loads these and presents a simple form — a clinician enters a patient's values and immediately gets a predicted CKD risk and probability. This is deployable for free on Streamlit Community Cloud, which gives a public URL, satisfying the project's web-deployment requirement. I also built a small tester.py script so performance can be verified independently of the notebook.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this project shows the full applied machine-learning workflow on a genuinely messy, real-world biomedical dataset — transparent cleaning, multi-angle exploratory analysis, clinically motivated feature engineering, rigorous validation across three tuned algorithms, and a working deployed application. The main limitation is scale — four hundred patients from a single hospital — so external validation on a larger, multi-site cohort would be the natural next step before any real clinical use, along with more sophisticated imputation and explainability methods like SHAP so individual predictions are easier for a clinician to trust.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 I'm happy to take any questions. The GitHub repository README has links to the full notebook, the written report, and the live deployed app if you'd like to try it yourself.</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3A40"/>
        </a:solidFill>
        <a:effectLst/>
      </p:bgPr>
    </p:bg>
    <p:spTree>
      <p:nvGrpSpPr>
        <p:cNvPr id="1" name=""/>
        <p:cNvGrpSpPr/>
        <p:nvPr/>
      </p:nvGrpSpPr>
      <p:grpSpPr>
        <a:xfrm>
          <a:off x="0" y="0"/>
          <a:ext cx="0" cy="0"/>
          <a:chOff x="0" y="0"/>
          <a:chExt cx="0" cy="0"/>
        </a:xfrm>
      </p:grpSpPr>
      <p:sp>
        <p:nvSpPr>
          <p:cNvPr id="2" name="Shape 0"/>
          <p:cNvSpPr/>
          <p:nvPr/>
        </p:nvSpPr>
        <p:spPr>
          <a:xfrm>
            <a:off x="9418320" y="-2011680"/>
            <a:ext cx="5486400" cy="5486400"/>
          </a:xfrm>
          <a:prstGeom prst="ellipse">
            <a:avLst/>
          </a:prstGeom>
          <a:solidFill>
            <a:srgbClr val="028090">
              <a:alpha val="30000"/>
            </a:srgbClr>
          </a:solidFill>
          <a:ln/>
        </p:spPr>
        <p:txBody>
          <a:bodyPr/>
          <a:lstStyle/>
          <a:p>
            <a:endParaRPr lang="en-EG"/>
          </a:p>
        </p:txBody>
      </p:sp>
      <p:sp>
        <p:nvSpPr>
          <p:cNvPr id="3" name="Shape 1"/>
          <p:cNvSpPr/>
          <p:nvPr/>
        </p:nvSpPr>
        <p:spPr>
          <a:xfrm>
            <a:off x="-2286000" y="4389120"/>
            <a:ext cx="4572000" cy="4572000"/>
          </a:xfrm>
          <a:prstGeom prst="ellipse">
            <a:avLst/>
          </a:prstGeom>
          <a:solidFill>
            <a:srgbClr val="00A896">
              <a:alpha val="20000"/>
            </a:srgbClr>
          </a:solidFill>
          <a:ln/>
        </p:spPr>
        <p:txBody>
          <a:bodyPr/>
          <a:lstStyle/>
          <a:p>
            <a:endParaRPr lang="en-EG"/>
          </a:p>
        </p:txBody>
      </p:sp>
      <p:sp>
        <p:nvSpPr>
          <p:cNvPr id="4" name="Text 2"/>
          <p:cNvSpPr/>
          <p:nvPr/>
        </p:nvSpPr>
        <p:spPr>
          <a:xfrm>
            <a:off x="822960" y="1554480"/>
            <a:ext cx="9144000" cy="365760"/>
          </a:xfrm>
          <a:prstGeom prst="rect">
            <a:avLst/>
          </a:prstGeom>
          <a:noFill/>
          <a:ln/>
        </p:spPr>
        <p:txBody>
          <a:bodyPr wrap="square" rtlCol="0" anchor="ctr"/>
          <a:lstStyle/>
          <a:p>
            <a:pPr marL="0" indent="0">
              <a:buNone/>
            </a:pPr>
            <a:r>
              <a:rPr lang="en-US" sz="1400" b="1" kern="0" spc="200" dirty="0">
                <a:solidFill>
                  <a:srgbClr val="02C39A"/>
                </a:solidFill>
                <a:latin typeface="Calibri" pitchFamily="34" charset="0"/>
                <a:ea typeface="Calibri" pitchFamily="34" charset="-122"/>
                <a:cs typeface="Calibri" pitchFamily="34" charset="-120"/>
              </a:rPr>
              <a:t>CBIO313 — DATA MINING &amp; MACHINE LEARNING</a:t>
            </a:r>
            <a:endParaRPr lang="en-US" sz="1400" dirty="0"/>
          </a:p>
        </p:txBody>
      </p:sp>
      <p:sp>
        <p:nvSpPr>
          <p:cNvPr id="5" name="Text 3"/>
          <p:cNvSpPr/>
          <p:nvPr/>
        </p:nvSpPr>
        <p:spPr>
          <a:xfrm>
            <a:off x="777240" y="1965960"/>
            <a:ext cx="9601200" cy="1920240"/>
          </a:xfrm>
          <a:prstGeom prst="rect">
            <a:avLst/>
          </a:prstGeom>
          <a:noFill/>
          <a:ln/>
        </p:spPr>
        <p:txBody>
          <a:bodyPr wrap="square" rtlCol="0" anchor="ctr"/>
          <a:lstStyle/>
          <a:p>
            <a:pPr marL="0" indent="0">
              <a:lnSpc>
                <a:spcPts val="5000"/>
              </a:lnSpc>
              <a:buNone/>
            </a:pPr>
            <a:r>
              <a:rPr lang="en-US" sz="4600" b="1" dirty="0">
                <a:solidFill>
                  <a:srgbClr val="FFFFFF"/>
                </a:solidFill>
                <a:latin typeface="Cambria" pitchFamily="34" charset="0"/>
                <a:ea typeface="Cambria" pitchFamily="34" charset="-122"/>
                <a:cs typeface="Cambria" pitchFamily="34" charset="-120"/>
              </a:rPr>
              <a:t>Chronic Kidney Disease</a:t>
            </a:r>
            <a:endParaRPr lang="en-US" sz="4600" dirty="0"/>
          </a:p>
          <a:p>
            <a:pPr marL="0" indent="0">
              <a:lnSpc>
                <a:spcPts val="5000"/>
              </a:lnSpc>
              <a:buNone/>
            </a:pPr>
            <a:r>
              <a:rPr lang="en-US" sz="4600" b="1" dirty="0">
                <a:solidFill>
                  <a:srgbClr val="FFFFFF"/>
                </a:solidFill>
                <a:latin typeface="Cambria" pitchFamily="34" charset="0"/>
                <a:ea typeface="Cambria" pitchFamily="34" charset="-122"/>
                <a:cs typeface="Cambria" pitchFamily="34" charset="-120"/>
              </a:rPr>
              <a:t>Prediction</a:t>
            </a:r>
            <a:endParaRPr lang="en-US" sz="4600" dirty="0"/>
          </a:p>
        </p:txBody>
      </p:sp>
      <p:sp>
        <p:nvSpPr>
          <p:cNvPr id="6" name="Text 4"/>
          <p:cNvSpPr/>
          <p:nvPr/>
        </p:nvSpPr>
        <p:spPr>
          <a:xfrm>
            <a:off x="822960" y="3886200"/>
            <a:ext cx="8686800" cy="822960"/>
          </a:xfrm>
          <a:prstGeom prst="rect">
            <a:avLst/>
          </a:prstGeom>
          <a:noFill/>
          <a:ln/>
        </p:spPr>
        <p:txBody>
          <a:bodyPr wrap="square" rtlCol="0" anchor="ctr"/>
          <a:lstStyle/>
          <a:p>
            <a:pPr marL="0" indent="0">
              <a:lnSpc>
                <a:spcPts val="2200"/>
              </a:lnSpc>
              <a:buNone/>
            </a:pPr>
            <a:r>
              <a:rPr lang="en-US" sz="1600" i="1" dirty="0">
                <a:solidFill>
                  <a:srgbClr val="BFE3E0"/>
                </a:solidFill>
                <a:latin typeface="Calibri" pitchFamily="34" charset="0"/>
                <a:ea typeface="Calibri" pitchFamily="34" charset="-122"/>
                <a:cs typeface="Calibri" pitchFamily="34" charset="-120"/>
              </a:rPr>
              <a:t>An end-to-end machine learning pipeline for early CKD detection</a:t>
            </a:r>
            <a:endParaRPr lang="en-US" sz="1600" dirty="0"/>
          </a:p>
          <a:p>
            <a:pPr marL="0" indent="0">
              <a:lnSpc>
                <a:spcPts val="2200"/>
              </a:lnSpc>
              <a:buNone/>
            </a:pPr>
            <a:r>
              <a:rPr lang="en-US" sz="1600" i="1" dirty="0">
                <a:solidFill>
                  <a:srgbClr val="BFE3E0"/>
                </a:solidFill>
                <a:latin typeface="Calibri" pitchFamily="34" charset="0"/>
                <a:ea typeface="Calibri" pitchFamily="34" charset="-122"/>
                <a:cs typeface="Calibri" pitchFamily="34" charset="-120"/>
              </a:rPr>
              <a:t>from routine clinical and laboratory measurements</a:t>
            </a:r>
            <a:endParaRPr lang="en-US" sz="1600" dirty="0"/>
          </a:p>
        </p:txBody>
      </p:sp>
      <p:sp>
        <p:nvSpPr>
          <p:cNvPr id="7" name="Text 5"/>
          <p:cNvSpPr/>
          <p:nvPr/>
        </p:nvSpPr>
        <p:spPr>
          <a:xfrm>
            <a:off x="822960" y="5989320"/>
            <a:ext cx="5486400" cy="365760"/>
          </a:xfrm>
          <a:prstGeom prst="rect">
            <a:avLst/>
          </a:prstGeom>
          <a:noFill/>
          <a:ln/>
        </p:spPr>
        <p:txBody>
          <a:bodyPr wrap="square" rtlCol="0" anchor="ctr"/>
          <a:lstStyle/>
          <a:p>
            <a:pPr marL="0" indent="0">
              <a:buNone/>
            </a:pPr>
            <a:r>
              <a:rPr lang="en-US" sz="1300" dirty="0">
                <a:solidFill>
                  <a:srgbClr val="8FB9BC"/>
                </a:solidFill>
                <a:latin typeface="Calibri" pitchFamily="34" charset="0"/>
                <a:ea typeface="Calibri" pitchFamily="34" charset="-122"/>
                <a:cs typeface="Calibri" pitchFamily="34" charset="-120"/>
              </a:rPr>
              <a:t>Final Project Presentation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marL="0" indent="0">
              <a:buNone/>
            </a:pPr>
            <a:r>
              <a:rPr lang="en-US" sz="1300" b="1" kern="0" spc="200" dirty="0">
                <a:solidFill>
                  <a:srgbClr val="00A896"/>
                </a:solidFill>
                <a:latin typeface="Calibri" pitchFamily="34" charset="0"/>
                <a:ea typeface="Calibri" pitchFamily="34" charset="-122"/>
                <a:cs typeface="Calibri" pitchFamily="34" charset="-120"/>
              </a:rPr>
              <a:t>01 · PROBLEM &amp; OBJECTIVE</a:t>
            </a:r>
            <a:endParaRPr lang="en-US" sz="1300" dirty="0"/>
          </a:p>
        </p:txBody>
      </p:sp>
      <p:sp>
        <p:nvSpPr>
          <p:cNvPr id="3" name="Text 1"/>
          <p:cNvSpPr/>
          <p:nvPr/>
        </p:nvSpPr>
        <p:spPr>
          <a:xfrm>
            <a:off x="548640" y="777240"/>
            <a:ext cx="10058400" cy="640080"/>
          </a:xfrm>
          <a:prstGeom prst="rect">
            <a:avLst/>
          </a:prstGeom>
          <a:noFill/>
          <a:ln/>
        </p:spPr>
        <p:txBody>
          <a:bodyPr wrap="square" rtlCol="0" anchor="ctr"/>
          <a:lstStyle/>
          <a:p>
            <a:pPr marL="0" indent="0">
              <a:buNone/>
            </a:pPr>
            <a:r>
              <a:rPr lang="en-US" sz="3200" b="1" dirty="0">
                <a:solidFill>
                  <a:srgbClr val="0B2B2E"/>
                </a:solidFill>
                <a:latin typeface="Cambria" pitchFamily="34" charset="0"/>
                <a:ea typeface="Cambria" pitchFamily="34" charset="-122"/>
                <a:cs typeface="Cambria" pitchFamily="34" charset="-120"/>
              </a:rPr>
              <a:t>Why Chronic Kidney Disease?</a:t>
            </a:r>
            <a:endParaRPr lang="en-US" sz="3200" dirty="0"/>
          </a:p>
        </p:txBody>
      </p:sp>
      <p:sp>
        <p:nvSpPr>
          <p:cNvPr id="4" name="Shape 2"/>
          <p:cNvSpPr/>
          <p:nvPr/>
        </p:nvSpPr>
        <p:spPr>
          <a:xfrm>
            <a:off x="548640" y="1737360"/>
            <a:ext cx="3453384" cy="4206240"/>
          </a:xfrm>
          <a:prstGeom prst="roundRect">
            <a:avLst>
              <a:gd name="adj" fmla="val 3177"/>
            </a:avLst>
          </a:prstGeom>
          <a:solidFill>
            <a:srgbClr val="F2F7F7"/>
          </a:solidFill>
          <a:ln/>
          <a:effectLst>
            <a:outerShdw blurRad="101600" dist="38100" dir="5400000" algn="bl" rotWithShape="0">
              <a:srgbClr val="1B2A2F">
                <a:alpha val="18000"/>
              </a:srgbClr>
            </a:outerShdw>
          </a:effectLst>
        </p:spPr>
        <p:txBody>
          <a:bodyPr/>
          <a:lstStyle/>
          <a:p>
            <a:endParaRPr lang="en-EG"/>
          </a:p>
        </p:txBody>
      </p:sp>
      <p:sp>
        <p:nvSpPr>
          <p:cNvPr id="5" name="Shape 3"/>
          <p:cNvSpPr/>
          <p:nvPr/>
        </p:nvSpPr>
        <p:spPr>
          <a:xfrm>
            <a:off x="868680" y="2057400"/>
            <a:ext cx="640080" cy="640080"/>
          </a:xfrm>
          <a:prstGeom prst="ellipse">
            <a:avLst/>
          </a:prstGeom>
          <a:solidFill>
            <a:srgbClr val="028090"/>
          </a:solidFill>
          <a:ln/>
        </p:spPr>
        <p:txBody>
          <a:bodyPr/>
          <a:lstStyle/>
          <a:p>
            <a:endParaRPr lang="en-EG"/>
          </a:p>
        </p:txBody>
      </p:sp>
      <p:sp>
        <p:nvSpPr>
          <p:cNvPr id="6" name="Text 4"/>
          <p:cNvSpPr/>
          <p:nvPr/>
        </p:nvSpPr>
        <p:spPr>
          <a:xfrm>
            <a:off x="868680" y="2057400"/>
            <a:ext cx="640080" cy="640080"/>
          </a:xfrm>
          <a:prstGeom prst="rect">
            <a:avLst/>
          </a:prstGeom>
          <a:noFill/>
          <a:ln/>
        </p:spPr>
        <p:txBody>
          <a:bodyPr wrap="square" rtlCol="0" anchor="ctr"/>
          <a:lstStyle/>
          <a:p>
            <a:pPr marL="0" indent="0" algn="ctr">
              <a:buNone/>
            </a:pPr>
            <a:r>
              <a:rPr lang="en-US" sz="2200" dirty="0">
                <a:solidFill>
                  <a:srgbClr val="FFFFFF"/>
                </a:solidFill>
              </a:rPr>
              <a:t>!</a:t>
            </a:r>
            <a:endParaRPr lang="en-US" sz="2200" dirty="0"/>
          </a:p>
        </p:txBody>
      </p:sp>
      <p:sp>
        <p:nvSpPr>
          <p:cNvPr id="7" name="Text 5"/>
          <p:cNvSpPr/>
          <p:nvPr/>
        </p:nvSpPr>
        <p:spPr>
          <a:xfrm>
            <a:off x="822960" y="2880360"/>
            <a:ext cx="2904744" cy="457200"/>
          </a:xfrm>
          <a:prstGeom prst="rect">
            <a:avLst/>
          </a:prstGeom>
          <a:noFill/>
          <a:ln/>
        </p:spPr>
        <p:txBody>
          <a:bodyPr wrap="square" rtlCol="0" anchor="ctr"/>
          <a:lstStyle/>
          <a:p>
            <a:pPr marL="0" indent="0">
              <a:buNone/>
            </a:pPr>
            <a:r>
              <a:rPr lang="en-US" sz="1700" b="1" dirty="0">
                <a:solidFill>
                  <a:srgbClr val="0B2B2E"/>
                </a:solidFill>
                <a:latin typeface="Calibri" pitchFamily="34" charset="0"/>
                <a:ea typeface="Calibri" pitchFamily="34" charset="-122"/>
                <a:cs typeface="Calibri" pitchFamily="34" charset="-120"/>
              </a:rPr>
              <a:t>Silent progression</a:t>
            </a:r>
            <a:endParaRPr lang="en-US" sz="1700" dirty="0"/>
          </a:p>
        </p:txBody>
      </p:sp>
      <p:sp>
        <p:nvSpPr>
          <p:cNvPr id="8" name="Text 6"/>
          <p:cNvSpPr/>
          <p:nvPr/>
        </p:nvSpPr>
        <p:spPr>
          <a:xfrm>
            <a:off x="822960" y="3383280"/>
            <a:ext cx="2904744" cy="2286000"/>
          </a:xfrm>
          <a:prstGeom prst="rect">
            <a:avLst/>
          </a:prstGeom>
          <a:noFill/>
          <a:ln/>
        </p:spPr>
        <p:txBody>
          <a:bodyPr wrap="square" rtlCol="0" anchor="ctr"/>
          <a:lstStyle/>
          <a:p>
            <a:pPr marL="0" indent="0">
              <a:lnSpc>
                <a:spcPts val="1800"/>
              </a:lnSpc>
              <a:buNone/>
            </a:pPr>
            <a:r>
              <a:rPr lang="en-US" sz="1300" dirty="0">
                <a:solidFill>
                  <a:srgbClr val="5C7A7D"/>
                </a:solidFill>
                <a:latin typeface="Calibri" pitchFamily="34" charset="0"/>
                <a:ea typeface="Calibri" pitchFamily="34" charset="-122"/>
                <a:cs typeface="Calibri" pitchFamily="34" charset="-120"/>
              </a:rPr>
              <a:t>CKD often shows no symptoms until kidney function has already declined significantly.</a:t>
            </a:r>
            <a:endParaRPr lang="en-US" sz="1300" dirty="0"/>
          </a:p>
        </p:txBody>
      </p:sp>
      <p:sp>
        <p:nvSpPr>
          <p:cNvPr id="9" name="Shape 7"/>
          <p:cNvSpPr/>
          <p:nvPr/>
        </p:nvSpPr>
        <p:spPr>
          <a:xfrm>
            <a:off x="4367784" y="1737360"/>
            <a:ext cx="3453384" cy="4206240"/>
          </a:xfrm>
          <a:prstGeom prst="roundRect">
            <a:avLst>
              <a:gd name="adj" fmla="val 3177"/>
            </a:avLst>
          </a:prstGeom>
          <a:solidFill>
            <a:srgbClr val="F2F7F7"/>
          </a:solidFill>
          <a:ln/>
          <a:effectLst>
            <a:outerShdw blurRad="101600" dist="38100" dir="5400000" algn="bl" rotWithShape="0">
              <a:srgbClr val="1B2A2F">
                <a:alpha val="18000"/>
              </a:srgbClr>
            </a:outerShdw>
          </a:effectLst>
        </p:spPr>
        <p:txBody>
          <a:bodyPr/>
          <a:lstStyle/>
          <a:p>
            <a:endParaRPr lang="en-EG"/>
          </a:p>
        </p:txBody>
      </p:sp>
      <p:sp>
        <p:nvSpPr>
          <p:cNvPr id="10" name="Shape 8"/>
          <p:cNvSpPr/>
          <p:nvPr/>
        </p:nvSpPr>
        <p:spPr>
          <a:xfrm>
            <a:off x="4687824" y="2057400"/>
            <a:ext cx="640080" cy="640080"/>
          </a:xfrm>
          <a:prstGeom prst="ellipse">
            <a:avLst/>
          </a:prstGeom>
          <a:solidFill>
            <a:srgbClr val="028090"/>
          </a:solidFill>
          <a:ln/>
        </p:spPr>
        <p:txBody>
          <a:bodyPr/>
          <a:lstStyle/>
          <a:p>
            <a:endParaRPr lang="en-EG"/>
          </a:p>
        </p:txBody>
      </p:sp>
      <p:sp>
        <p:nvSpPr>
          <p:cNvPr id="11" name="Text 9"/>
          <p:cNvSpPr/>
          <p:nvPr/>
        </p:nvSpPr>
        <p:spPr>
          <a:xfrm>
            <a:off x="4687824" y="2057400"/>
            <a:ext cx="640080" cy="640080"/>
          </a:xfrm>
          <a:prstGeom prst="rect">
            <a:avLst/>
          </a:prstGeom>
          <a:noFill/>
          <a:ln/>
        </p:spPr>
        <p:txBody>
          <a:bodyPr wrap="square" rtlCol="0" anchor="ctr"/>
          <a:lstStyle/>
          <a:p>
            <a:pPr marL="0" indent="0" algn="ctr">
              <a:buNone/>
            </a:pPr>
            <a:r>
              <a:rPr lang="en-US" sz="2200" dirty="0">
                <a:solidFill>
                  <a:srgbClr val="FFFFFF"/>
                </a:solidFill>
              </a:rPr>
              <a:t>🩸</a:t>
            </a:r>
            <a:endParaRPr lang="en-US" sz="2200" dirty="0"/>
          </a:p>
        </p:txBody>
      </p:sp>
      <p:sp>
        <p:nvSpPr>
          <p:cNvPr id="12" name="Text 10"/>
          <p:cNvSpPr/>
          <p:nvPr/>
        </p:nvSpPr>
        <p:spPr>
          <a:xfrm>
            <a:off x="4642104" y="2880360"/>
            <a:ext cx="2904744" cy="457200"/>
          </a:xfrm>
          <a:prstGeom prst="rect">
            <a:avLst/>
          </a:prstGeom>
          <a:noFill/>
          <a:ln/>
        </p:spPr>
        <p:txBody>
          <a:bodyPr wrap="square" rtlCol="0" anchor="ctr"/>
          <a:lstStyle/>
          <a:p>
            <a:pPr marL="0" indent="0">
              <a:buNone/>
            </a:pPr>
            <a:r>
              <a:rPr lang="en-US" sz="1700" b="1" dirty="0">
                <a:solidFill>
                  <a:srgbClr val="0B2B2E"/>
                </a:solidFill>
                <a:latin typeface="Calibri" pitchFamily="34" charset="0"/>
                <a:ea typeface="Calibri" pitchFamily="34" charset="-122"/>
                <a:cs typeface="Calibri" pitchFamily="34" charset="-120"/>
              </a:rPr>
              <a:t>Detectable early</a:t>
            </a:r>
            <a:endParaRPr lang="en-US" sz="1700" dirty="0"/>
          </a:p>
        </p:txBody>
      </p:sp>
      <p:sp>
        <p:nvSpPr>
          <p:cNvPr id="13" name="Text 11"/>
          <p:cNvSpPr/>
          <p:nvPr/>
        </p:nvSpPr>
        <p:spPr>
          <a:xfrm>
            <a:off x="4642104" y="3383280"/>
            <a:ext cx="2904744" cy="2286000"/>
          </a:xfrm>
          <a:prstGeom prst="rect">
            <a:avLst/>
          </a:prstGeom>
          <a:noFill/>
          <a:ln/>
        </p:spPr>
        <p:txBody>
          <a:bodyPr wrap="square" rtlCol="0" anchor="ctr"/>
          <a:lstStyle/>
          <a:p>
            <a:pPr marL="0" indent="0">
              <a:lnSpc>
                <a:spcPts val="1800"/>
              </a:lnSpc>
              <a:buNone/>
            </a:pPr>
            <a:r>
              <a:rPr lang="en-US" sz="1300" dirty="0">
                <a:solidFill>
                  <a:srgbClr val="5C7A7D"/>
                </a:solidFill>
                <a:latin typeface="Calibri" pitchFamily="34" charset="0"/>
                <a:ea typeface="Calibri" pitchFamily="34" charset="-122"/>
                <a:cs typeface="Calibri" pitchFamily="34" charset="-120"/>
              </a:rPr>
              <a:t>Routine blood &amp; urine tests (creatinine, hemoglobin, albumin...) carry early warning signals.</a:t>
            </a:r>
            <a:endParaRPr lang="en-US" sz="1300" dirty="0"/>
          </a:p>
        </p:txBody>
      </p:sp>
      <p:sp>
        <p:nvSpPr>
          <p:cNvPr id="14" name="Shape 12"/>
          <p:cNvSpPr/>
          <p:nvPr/>
        </p:nvSpPr>
        <p:spPr>
          <a:xfrm>
            <a:off x="8186928" y="1737360"/>
            <a:ext cx="3453384" cy="4206240"/>
          </a:xfrm>
          <a:prstGeom prst="roundRect">
            <a:avLst>
              <a:gd name="adj" fmla="val 3177"/>
            </a:avLst>
          </a:prstGeom>
          <a:solidFill>
            <a:srgbClr val="F2F7F7"/>
          </a:solidFill>
          <a:ln/>
          <a:effectLst>
            <a:outerShdw blurRad="101600" dist="38100" dir="5400000" algn="bl" rotWithShape="0">
              <a:srgbClr val="1B2A2F">
                <a:alpha val="18000"/>
              </a:srgbClr>
            </a:outerShdw>
          </a:effectLst>
        </p:spPr>
        <p:txBody>
          <a:bodyPr/>
          <a:lstStyle/>
          <a:p>
            <a:endParaRPr lang="en-EG"/>
          </a:p>
        </p:txBody>
      </p:sp>
      <p:sp>
        <p:nvSpPr>
          <p:cNvPr id="15" name="Shape 13"/>
          <p:cNvSpPr/>
          <p:nvPr/>
        </p:nvSpPr>
        <p:spPr>
          <a:xfrm>
            <a:off x="8506968" y="2057400"/>
            <a:ext cx="640080" cy="640080"/>
          </a:xfrm>
          <a:prstGeom prst="ellipse">
            <a:avLst/>
          </a:prstGeom>
          <a:solidFill>
            <a:srgbClr val="028090"/>
          </a:solidFill>
          <a:ln/>
        </p:spPr>
        <p:txBody>
          <a:bodyPr/>
          <a:lstStyle/>
          <a:p>
            <a:endParaRPr lang="en-EG"/>
          </a:p>
        </p:txBody>
      </p:sp>
      <p:sp>
        <p:nvSpPr>
          <p:cNvPr id="16" name="Text 14"/>
          <p:cNvSpPr/>
          <p:nvPr/>
        </p:nvSpPr>
        <p:spPr>
          <a:xfrm>
            <a:off x="8506968" y="2057400"/>
            <a:ext cx="640080" cy="640080"/>
          </a:xfrm>
          <a:prstGeom prst="rect">
            <a:avLst/>
          </a:prstGeom>
          <a:noFill/>
          <a:ln/>
        </p:spPr>
        <p:txBody>
          <a:bodyPr wrap="square" rtlCol="0" anchor="ctr"/>
          <a:lstStyle/>
          <a:p>
            <a:pPr marL="0" indent="0" algn="ctr">
              <a:buNone/>
            </a:pPr>
            <a:r>
              <a:rPr lang="en-US" sz="2200" dirty="0">
                <a:solidFill>
                  <a:srgbClr val="FFFFFF"/>
                </a:solidFill>
              </a:rPr>
              <a:t>🎯</a:t>
            </a:r>
            <a:endParaRPr lang="en-US" sz="2200" dirty="0"/>
          </a:p>
        </p:txBody>
      </p:sp>
      <p:sp>
        <p:nvSpPr>
          <p:cNvPr id="17" name="Text 15"/>
          <p:cNvSpPr/>
          <p:nvPr/>
        </p:nvSpPr>
        <p:spPr>
          <a:xfrm>
            <a:off x="8461248" y="2880360"/>
            <a:ext cx="2904744" cy="457200"/>
          </a:xfrm>
          <a:prstGeom prst="rect">
            <a:avLst/>
          </a:prstGeom>
          <a:noFill/>
          <a:ln/>
        </p:spPr>
        <p:txBody>
          <a:bodyPr wrap="square" rtlCol="0" anchor="ctr"/>
          <a:lstStyle/>
          <a:p>
            <a:pPr marL="0" indent="0">
              <a:buNone/>
            </a:pPr>
            <a:r>
              <a:rPr lang="en-US" sz="1700" b="1" dirty="0">
                <a:solidFill>
                  <a:srgbClr val="0B2B2E"/>
                </a:solidFill>
                <a:latin typeface="Calibri" pitchFamily="34" charset="0"/>
                <a:ea typeface="Calibri" pitchFamily="34" charset="-122"/>
                <a:cs typeface="Calibri" pitchFamily="34" charset="-120"/>
              </a:rPr>
              <a:t>Our objective</a:t>
            </a:r>
            <a:endParaRPr lang="en-US" sz="1700" dirty="0"/>
          </a:p>
        </p:txBody>
      </p:sp>
      <p:sp>
        <p:nvSpPr>
          <p:cNvPr id="18" name="Text 16"/>
          <p:cNvSpPr/>
          <p:nvPr/>
        </p:nvSpPr>
        <p:spPr>
          <a:xfrm>
            <a:off x="8461248" y="3383280"/>
            <a:ext cx="2904744" cy="2286000"/>
          </a:xfrm>
          <a:prstGeom prst="rect">
            <a:avLst/>
          </a:prstGeom>
          <a:noFill/>
          <a:ln/>
        </p:spPr>
        <p:txBody>
          <a:bodyPr wrap="square" rtlCol="0" anchor="ctr"/>
          <a:lstStyle/>
          <a:p>
            <a:pPr marL="0" indent="0">
              <a:lnSpc>
                <a:spcPts val="1800"/>
              </a:lnSpc>
              <a:buNone/>
            </a:pPr>
            <a:r>
              <a:rPr lang="en-US" sz="1300" dirty="0">
                <a:solidFill>
                  <a:srgbClr val="5C7A7D"/>
                </a:solidFill>
                <a:latin typeface="Calibri" pitchFamily="34" charset="0"/>
                <a:ea typeface="Calibri" pitchFamily="34" charset="-122"/>
                <a:cs typeface="Calibri" pitchFamily="34" charset="-120"/>
              </a:rPr>
              <a:t>Predict CKD vs. not-CKD from 24 routine clinical features, and identify which measurements matter most.</a:t>
            </a:r>
            <a:endParaRPr lang="en-US" sz="1300" dirty="0"/>
          </a:p>
        </p:txBody>
      </p:sp>
      <p:sp>
        <p:nvSpPr>
          <p:cNvPr id="19" name="Text 17"/>
          <p:cNvSpPr/>
          <p:nvPr/>
        </p:nvSpPr>
        <p:spPr>
          <a:xfrm>
            <a:off x="548640" y="6172200"/>
            <a:ext cx="11064240" cy="457200"/>
          </a:xfrm>
          <a:prstGeom prst="rect">
            <a:avLst/>
          </a:prstGeom>
          <a:noFill/>
          <a:ln/>
        </p:spPr>
        <p:txBody>
          <a:bodyPr wrap="square" rtlCol="0" anchor="ctr"/>
          <a:lstStyle/>
          <a:p>
            <a:pPr marL="0" indent="0">
              <a:buNone/>
            </a:pPr>
            <a:r>
              <a:rPr lang="en-US" sz="1400" b="1" i="1" dirty="0">
                <a:solidFill>
                  <a:srgbClr val="028090"/>
                </a:solidFill>
                <a:latin typeface="Calibri" pitchFamily="34" charset="0"/>
                <a:ea typeface="Calibri" pitchFamily="34" charset="-122"/>
                <a:cs typeface="Calibri" pitchFamily="34" charset="-120"/>
              </a:rPr>
              <a:t>Research question: </a:t>
            </a:r>
            <a:r>
              <a:rPr lang="en-US" sz="1400" i="1" dirty="0">
                <a:solidFill>
                  <a:srgbClr val="0B2B2E"/>
                </a:solidFill>
                <a:latin typeface="Calibri" pitchFamily="34" charset="0"/>
                <a:ea typeface="Calibri" pitchFamily="34" charset="-122"/>
                <a:cs typeface="Calibri" pitchFamily="34" charset="-120"/>
              </a:rPr>
              <a:t>Given a patient's routine clinical and laboratory measurements, can we predict whether they have CKD — and which measurements matter most?</a:t>
            </a:r>
            <a:endParaRPr lang="en-US" sz="1400" dirty="0"/>
          </a:p>
        </p:txBody>
      </p:sp>
      <p:sp>
        <p:nvSpPr>
          <p:cNvPr id="20" name="Text 18"/>
          <p:cNvSpPr/>
          <p:nvPr/>
        </p:nvSpPr>
        <p:spPr>
          <a:xfrm>
            <a:off x="11274552" y="6355080"/>
            <a:ext cx="548640" cy="320040"/>
          </a:xfrm>
          <a:prstGeom prst="rect">
            <a:avLst/>
          </a:prstGeom>
          <a:noFill/>
          <a:ln/>
        </p:spPr>
        <p:txBody>
          <a:bodyPr wrap="square" rtlCol="0" anchor="ctr"/>
          <a:lstStyle/>
          <a:p>
            <a:pPr marL="0" indent="0" algn="r">
              <a:buNone/>
            </a:pPr>
            <a:r>
              <a:rPr lang="en-US" sz="1100" dirty="0">
                <a:solidFill>
                  <a:srgbClr val="5C7A7D"/>
                </a:solidFill>
                <a:latin typeface="Calibri" pitchFamily="34" charset="0"/>
                <a:ea typeface="Calibri" pitchFamily="34" charset="-122"/>
                <a:cs typeface="Calibri"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marL="0" indent="0">
              <a:buNone/>
            </a:pPr>
            <a:r>
              <a:rPr lang="en-US" sz="1300" b="1" kern="0" spc="200" dirty="0">
                <a:solidFill>
                  <a:srgbClr val="00A896"/>
                </a:solidFill>
                <a:latin typeface="Calibri" pitchFamily="34" charset="0"/>
                <a:ea typeface="Calibri" pitchFamily="34" charset="-122"/>
                <a:cs typeface="Calibri" pitchFamily="34" charset="-120"/>
              </a:rPr>
              <a:t>02 · DATASET</a:t>
            </a:r>
            <a:endParaRPr lang="en-US" sz="1300" dirty="0"/>
          </a:p>
        </p:txBody>
      </p:sp>
      <p:sp>
        <p:nvSpPr>
          <p:cNvPr id="3" name="Text 1"/>
          <p:cNvSpPr/>
          <p:nvPr/>
        </p:nvSpPr>
        <p:spPr>
          <a:xfrm>
            <a:off x="548640" y="777240"/>
            <a:ext cx="10058400" cy="640080"/>
          </a:xfrm>
          <a:prstGeom prst="rect">
            <a:avLst/>
          </a:prstGeom>
          <a:noFill/>
          <a:ln/>
        </p:spPr>
        <p:txBody>
          <a:bodyPr wrap="square" rtlCol="0" anchor="ctr"/>
          <a:lstStyle/>
          <a:p>
            <a:pPr marL="0" indent="0">
              <a:buNone/>
            </a:pPr>
            <a:r>
              <a:rPr lang="en-US" sz="3200" b="1" dirty="0">
                <a:solidFill>
                  <a:srgbClr val="0B2B2E"/>
                </a:solidFill>
                <a:latin typeface="Cambria" pitchFamily="34" charset="0"/>
                <a:ea typeface="Cambria" pitchFamily="34" charset="-122"/>
                <a:cs typeface="Cambria" pitchFamily="34" charset="-120"/>
              </a:rPr>
              <a:t>A genuinely messy, real dataset</a:t>
            </a:r>
            <a:endParaRPr lang="en-US" sz="3200" dirty="0"/>
          </a:p>
        </p:txBody>
      </p:sp>
      <p:sp>
        <p:nvSpPr>
          <p:cNvPr id="4" name="Text 2"/>
          <p:cNvSpPr/>
          <p:nvPr/>
        </p:nvSpPr>
        <p:spPr>
          <a:xfrm>
            <a:off x="548640" y="1417320"/>
            <a:ext cx="10058400" cy="365760"/>
          </a:xfrm>
          <a:prstGeom prst="rect">
            <a:avLst/>
          </a:prstGeom>
          <a:noFill/>
          <a:ln/>
        </p:spPr>
        <p:txBody>
          <a:bodyPr wrap="square" rtlCol="0" anchor="ctr"/>
          <a:lstStyle/>
          <a:p>
            <a:pPr marL="0" indent="0">
              <a:buNone/>
            </a:pPr>
            <a:r>
              <a:rPr lang="en-US" sz="1300" dirty="0">
                <a:solidFill>
                  <a:srgbClr val="5C7A7D"/>
                </a:solidFill>
                <a:latin typeface="Calibri" pitchFamily="34" charset="0"/>
                <a:ea typeface="Calibri" pitchFamily="34" charset="-122"/>
                <a:cs typeface="Calibri" pitchFamily="34" charset="-120"/>
              </a:rPr>
              <a:t>UCI Machine Learning Repository — Chronic Kidney Disease dataset, Tamil Nadu, India hospital, 2015</a:t>
            </a:r>
            <a:endParaRPr lang="en-US" sz="1300" dirty="0"/>
          </a:p>
        </p:txBody>
      </p:sp>
      <p:sp>
        <p:nvSpPr>
          <p:cNvPr id="5" name="Shape 3"/>
          <p:cNvSpPr/>
          <p:nvPr/>
        </p:nvSpPr>
        <p:spPr>
          <a:xfrm>
            <a:off x="548640" y="2103120"/>
            <a:ext cx="2514600" cy="1737360"/>
          </a:xfrm>
          <a:prstGeom prst="roundRect">
            <a:avLst>
              <a:gd name="adj" fmla="val 5263"/>
            </a:avLst>
          </a:prstGeom>
          <a:solidFill>
            <a:srgbClr val="013A40"/>
          </a:solidFill>
          <a:ln/>
        </p:spPr>
        <p:txBody>
          <a:bodyPr/>
          <a:lstStyle/>
          <a:p>
            <a:endParaRPr lang="en-EG"/>
          </a:p>
        </p:txBody>
      </p:sp>
      <p:sp>
        <p:nvSpPr>
          <p:cNvPr id="6" name="Text 4"/>
          <p:cNvSpPr/>
          <p:nvPr/>
        </p:nvSpPr>
        <p:spPr>
          <a:xfrm>
            <a:off x="548640" y="2286000"/>
            <a:ext cx="2514600" cy="822960"/>
          </a:xfrm>
          <a:prstGeom prst="rect">
            <a:avLst/>
          </a:prstGeom>
          <a:noFill/>
          <a:ln/>
        </p:spPr>
        <p:txBody>
          <a:bodyPr wrap="square" rtlCol="0" anchor="ctr"/>
          <a:lstStyle/>
          <a:p>
            <a:pPr marL="0" indent="0" algn="ctr">
              <a:buNone/>
            </a:pPr>
            <a:r>
              <a:rPr lang="en-US" sz="3000" b="1" dirty="0">
                <a:solidFill>
                  <a:srgbClr val="02C39A"/>
                </a:solidFill>
                <a:latin typeface="Cambria" pitchFamily="34" charset="0"/>
                <a:ea typeface="Cambria" pitchFamily="34" charset="-122"/>
                <a:cs typeface="Cambria" pitchFamily="34" charset="-120"/>
              </a:rPr>
              <a:t>400</a:t>
            </a:r>
            <a:endParaRPr lang="en-US" sz="3000" dirty="0"/>
          </a:p>
        </p:txBody>
      </p:sp>
      <p:sp>
        <p:nvSpPr>
          <p:cNvPr id="7" name="Text 5"/>
          <p:cNvSpPr/>
          <p:nvPr/>
        </p:nvSpPr>
        <p:spPr>
          <a:xfrm>
            <a:off x="548640" y="3063240"/>
            <a:ext cx="2514600" cy="548640"/>
          </a:xfrm>
          <a:prstGeom prst="rect">
            <a:avLst/>
          </a:prstGeom>
          <a:noFill/>
          <a:ln/>
        </p:spPr>
        <p:txBody>
          <a:bodyPr wrap="square" rtlCol="0" anchor="ctr"/>
          <a:lstStyle/>
          <a:p>
            <a:pPr marL="0" indent="0" algn="ctr">
              <a:buNone/>
            </a:pPr>
            <a:r>
              <a:rPr lang="en-US" sz="1200" dirty="0">
                <a:solidFill>
                  <a:srgbClr val="D7ECEA"/>
                </a:solidFill>
                <a:latin typeface="Calibri" pitchFamily="34" charset="0"/>
                <a:ea typeface="Calibri" pitchFamily="34" charset="-122"/>
                <a:cs typeface="Calibri" pitchFamily="34" charset="-120"/>
              </a:rPr>
              <a:t>patient records</a:t>
            </a:r>
            <a:endParaRPr lang="en-US" sz="1200" dirty="0"/>
          </a:p>
        </p:txBody>
      </p:sp>
      <p:sp>
        <p:nvSpPr>
          <p:cNvPr id="8" name="Shape 6"/>
          <p:cNvSpPr/>
          <p:nvPr/>
        </p:nvSpPr>
        <p:spPr>
          <a:xfrm>
            <a:off x="3337560" y="2103120"/>
            <a:ext cx="2514600" cy="1737360"/>
          </a:xfrm>
          <a:prstGeom prst="roundRect">
            <a:avLst>
              <a:gd name="adj" fmla="val 5263"/>
            </a:avLst>
          </a:prstGeom>
          <a:solidFill>
            <a:srgbClr val="013A40"/>
          </a:solidFill>
          <a:ln/>
        </p:spPr>
        <p:txBody>
          <a:bodyPr/>
          <a:lstStyle/>
          <a:p>
            <a:endParaRPr lang="en-EG"/>
          </a:p>
        </p:txBody>
      </p:sp>
      <p:sp>
        <p:nvSpPr>
          <p:cNvPr id="9" name="Text 7"/>
          <p:cNvSpPr/>
          <p:nvPr/>
        </p:nvSpPr>
        <p:spPr>
          <a:xfrm>
            <a:off x="3337560" y="2286000"/>
            <a:ext cx="2514600" cy="822960"/>
          </a:xfrm>
          <a:prstGeom prst="rect">
            <a:avLst/>
          </a:prstGeom>
          <a:noFill/>
          <a:ln/>
        </p:spPr>
        <p:txBody>
          <a:bodyPr wrap="square" rtlCol="0" anchor="ctr"/>
          <a:lstStyle/>
          <a:p>
            <a:pPr marL="0" indent="0" algn="ctr">
              <a:buNone/>
            </a:pPr>
            <a:r>
              <a:rPr lang="en-US" sz="3000" b="1" dirty="0">
                <a:solidFill>
                  <a:srgbClr val="02C39A"/>
                </a:solidFill>
                <a:latin typeface="Cambria" pitchFamily="34" charset="0"/>
                <a:ea typeface="Cambria" pitchFamily="34" charset="-122"/>
                <a:cs typeface="Cambria" pitchFamily="34" charset="-120"/>
              </a:rPr>
              <a:t>25</a:t>
            </a:r>
            <a:endParaRPr lang="en-US" sz="3000" dirty="0"/>
          </a:p>
        </p:txBody>
      </p:sp>
      <p:sp>
        <p:nvSpPr>
          <p:cNvPr id="10" name="Text 8"/>
          <p:cNvSpPr/>
          <p:nvPr/>
        </p:nvSpPr>
        <p:spPr>
          <a:xfrm>
            <a:off x="3337560" y="3063240"/>
            <a:ext cx="2514600" cy="548640"/>
          </a:xfrm>
          <a:prstGeom prst="rect">
            <a:avLst/>
          </a:prstGeom>
          <a:noFill/>
          <a:ln/>
        </p:spPr>
        <p:txBody>
          <a:bodyPr wrap="square" rtlCol="0" anchor="ctr"/>
          <a:lstStyle/>
          <a:p>
            <a:pPr marL="0" indent="0" algn="ctr">
              <a:buNone/>
            </a:pPr>
            <a:r>
              <a:rPr lang="en-US" sz="1200" dirty="0">
                <a:solidFill>
                  <a:srgbClr val="D7ECEA"/>
                </a:solidFill>
                <a:latin typeface="Calibri" pitchFamily="34" charset="0"/>
                <a:ea typeface="Calibri" pitchFamily="34" charset="-122"/>
                <a:cs typeface="Calibri" pitchFamily="34" charset="-120"/>
              </a:rPr>
              <a:t>raw columns</a:t>
            </a:r>
            <a:endParaRPr lang="en-US" sz="1200" dirty="0"/>
          </a:p>
        </p:txBody>
      </p:sp>
      <p:sp>
        <p:nvSpPr>
          <p:cNvPr id="11" name="Shape 9"/>
          <p:cNvSpPr/>
          <p:nvPr/>
        </p:nvSpPr>
        <p:spPr>
          <a:xfrm>
            <a:off x="548640" y="4114800"/>
            <a:ext cx="2514600" cy="1737360"/>
          </a:xfrm>
          <a:prstGeom prst="roundRect">
            <a:avLst>
              <a:gd name="adj" fmla="val 5263"/>
            </a:avLst>
          </a:prstGeom>
          <a:solidFill>
            <a:srgbClr val="013A40"/>
          </a:solidFill>
          <a:ln/>
        </p:spPr>
        <p:txBody>
          <a:bodyPr/>
          <a:lstStyle/>
          <a:p>
            <a:endParaRPr lang="en-EG"/>
          </a:p>
        </p:txBody>
      </p:sp>
      <p:sp>
        <p:nvSpPr>
          <p:cNvPr id="12" name="Text 10"/>
          <p:cNvSpPr/>
          <p:nvPr/>
        </p:nvSpPr>
        <p:spPr>
          <a:xfrm>
            <a:off x="548640" y="4297680"/>
            <a:ext cx="2514600" cy="822960"/>
          </a:xfrm>
          <a:prstGeom prst="rect">
            <a:avLst/>
          </a:prstGeom>
          <a:noFill/>
          <a:ln/>
        </p:spPr>
        <p:txBody>
          <a:bodyPr wrap="square" rtlCol="0" anchor="ctr"/>
          <a:lstStyle/>
          <a:p>
            <a:pPr marL="0" indent="0" algn="ctr">
              <a:buNone/>
            </a:pPr>
            <a:r>
              <a:rPr lang="en-US" sz="3000" b="1" dirty="0">
                <a:solidFill>
                  <a:srgbClr val="02C39A"/>
                </a:solidFill>
                <a:latin typeface="Cambria" pitchFamily="34" charset="0"/>
                <a:ea typeface="Cambria" pitchFamily="34" charset="-122"/>
                <a:cs typeface="Cambria" pitchFamily="34" charset="-120"/>
              </a:rPr>
              <a:t>1,012</a:t>
            </a:r>
            <a:endParaRPr lang="en-US" sz="3000" dirty="0"/>
          </a:p>
        </p:txBody>
      </p:sp>
      <p:sp>
        <p:nvSpPr>
          <p:cNvPr id="13" name="Text 11"/>
          <p:cNvSpPr/>
          <p:nvPr/>
        </p:nvSpPr>
        <p:spPr>
          <a:xfrm>
            <a:off x="548640" y="5074920"/>
            <a:ext cx="2514600" cy="548640"/>
          </a:xfrm>
          <a:prstGeom prst="rect">
            <a:avLst/>
          </a:prstGeom>
          <a:noFill/>
          <a:ln/>
        </p:spPr>
        <p:txBody>
          <a:bodyPr wrap="square" rtlCol="0" anchor="ctr"/>
          <a:lstStyle/>
          <a:p>
            <a:pPr marL="0" indent="0" algn="ctr">
              <a:buNone/>
            </a:pPr>
            <a:r>
              <a:rPr lang="en-US" sz="1200" dirty="0">
                <a:solidFill>
                  <a:srgbClr val="D7ECEA"/>
                </a:solidFill>
                <a:latin typeface="Calibri" pitchFamily="34" charset="0"/>
                <a:ea typeface="Calibri" pitchFamily="34" charset="-122"/>
                <a:cs typeface="Calibri" pitchFamily="34" charset="-120"/>
              </a:rPr>
              <a:t>missing cells</a:t>
            </a:r>
            <a:endParaRPr lang="en-US" sz="1200" dirty="0"/>
          </a:p>
        </p:txBody>
      </p:sp>
      <p:sp>
        <p:nvSpPr>
          <p:cNvPr id="14" name="Shape 12"/>
          <p:cNvSpPr/>
          <p:nvPr/>
        </p:nvSpPr>
        <p:spPr>
          <a:xfrm>
            <a:off x="3337560" y="4114800"/>
            <a:ext cx="2514600" cy="1737360"/>
          </a:xfrm>
          <a:prstGeom prst="roundRect">
            <a:avLst>
              <a:gd name="adj" fmla="val 5263"/>
            </a:avLst>
          </a:prstGeom>
          <a:solidFill>
            <a:srgbClr val="013A40"/>
          </a:solidFill>
          <a:ln/>
        </p:spPr>
        <p:txBody>
          <a:bodyPr/>
          <a:lstStyle/>
          <a:p>
            <a:endParaRPr lang="en-EG"/>
          </a:p>
        </p:txBody>
      </p:sp>
      <p:sp>
        <p:nvSpPr>
          <p:cNvPr id="15" name="Text 13"/>
          <p:cNvSpPr/>
          <p:nvPr/>
        </p:nvSpPr>
        <p:spPr>
          <a:xfrm>
            <a:off x="3337560" y="4297680"/>
            <a:ext cx="2514600" cy="822960"/>
          </a:xfrm>
          <a:prstGeom prst="rect">
            <a:avLst/>
          </a:prstGeom>
          <a:noFill/>
          <a:ln/>
        </p:spPr>
        <p:txBody>
          <a:bodyPr wrap="square" rtlCol="0" anchor="ctr"/>
          <a:lstStyle/>
          <a:p>
            <a:pPr marL="0" indent="0" algn="ctr">
              <a:buNone/>
            </a:pPr>
            <a:r>
              <a:rPr lang="en-US" sz="3000" b="1" dirty="0">
                <a:solidFill>
                  <a:srgbClr val="02C39A"/>
                </a:solidFill>
                <a:latin typeface="Cambria" pitchFamily="34" charset="0"/>
                <a:ea typeface="Cambria" pitchFamily="34" charset="-122"/>
                <a:cs typeface="Cambria" pitchFamily="34" charset="-120"/>
              </a:rPr>
              <a:t>250 / 150</a:t>
            </a:r>
            <a:endParaRPr lang="en-US" sz="3000" dirty="0"/>
          </a:p>
        </p:txBody>
      </p:sp>
      <p:sp>
        <p:nvSpPr>
          <p:cNvPr id="16" name="Text 14"/>
          <p:cNvSpPr/>
          <p:nvPr/>
        </p:nvSpPr>
        <p:spPr>
          <a:xfrm>
            <a:off x="3337560" y="5074920"/>
            <a:ext cx="2514600" cy="548640"/>
          </a:xfrm>
          <a:prstGeom prst="rect">
            <a:avLst/>
          </a:prstGeom>
          <a:noFill/>
          <a:ln/>
        </p:spPr>
        <p:txBody>
          <a:bodyPr wrap="square" rtlCol="0" anchor="ctr"/>
          <a:lstStyle/>
          <a:p>
            <a:pPr marL="0" indent="0" algn="ctr">
              <a:buNone/>
            </a:pPr>
            <a:r>
              <a:rPr lang="en-US" sz="1200" dirty="0">
                <a:solidFill>
                  <a:srgbClr val="D7ECEA"/>
                </a:solidFill>
                <a:latin typeface="Calibri" pitchFamily="34" charset="0"/>
                <a:ea typeface="Calibri" pitchFamily="34" charset="-122"/>
                <a:cs typeface="Calibri" pitchFamily="34" charset="-120"/>
              </a:rPr>
              <a:t>CKD / not-CKD</a:t>
            </a:r>
            <a:endParaRPr lang="en-US" sz="1200" dirty="0"/>
          </a:p>
        </p:txBody>
      </p:sp>
      <p:sp>
        <p:nvSpPr>
          <p:cNvPr id="17" name="Text 15"/>
          <p:cNvSpPr/>
          <p:nvPr/>
        </p:nvSpPr>
        <p:spPr>
          <a:xfrm>
            <a:off x="6309360" y="2103120"/>
            <a:ext cx="5303520" cy="365760"/>
          </a:xfrm>
          <a:prstGeom prst="rect">
            <a:avLst/>
          </a:prstGeom>
          <a:noFill/>
          <a:ln/>
        </p:spPr>
        <p:txBody>
          <a:bodyPr wrap="square" rtlCol="0" anchor="ctr"/>
          <a:lstStyle/>
          <a:p>
            <a:pPr marL="0" indent="0">
              <a:buNone/>
            </a:pPr>
            <a:r>
              <a:rPr lang="en-US" sz="1600" b="1" dirty="0">
                <a:solidFill>
                  <a:srgbClr val="0B2B2E"/>
                </a:solidFill>
                <a:latin typeface="Calibri" pitchFamily="34" charset="0"/>
                <a:ea typeface="Calibri" pitchFamily="34" charset="-122"/>
                <a:cs typeface="Calibri" pitchFamily="34" charset="-120"/>
              </a:rPr>
              <a:t>Why this is NOT a clean dataset</a:t>
            </a:r>
            <a:endParaRPr lang="en-US" sz="1600" dirty="0"/>
          </a:p>
        </p:txBody>
      </p:sp>
      <p:sp>
        <p:nvSpPr>
          <p:cNvPr id="18" name="Shape 16"/>
          <p:cNvSpPr/>
          <p:nvPr/>
        </p:nvSpPr>
        <p:spPr>
          <a:xfrm>
            <a:off x="6309360" y="2660904"/>
            <a:ext cx="128016" cy="128016"/>
          </a:xfrm>
          <a:prstGeom prst="ellipse">
            <a:avLst/>
          </a:prstGeom>
          <a:solidFill>
            <a:srgbClr val="00A896"/>
          </a:solidFill>
          <a:ln/>
        </p:spPr>
        <p:txBody>
          <a:bodyPr/>
          <a:lstStyle/>
          <a:p>
            <a:endParaRPr lang="en-EG"/>
          </a:p>
        </p:txBody>
      </p:sp>
      <p:sp>
        <p:nvSpPr>
          <p:cNvPr id="19" name="Text 17"/>
          <p:cNvSpPr/>
          <p:nvPr/>
        </p:nvSpPr>
        <p:spPr>
          <a:xfrm>
            <a:off x="6583680" y="2532888"/>
            <a:ext cx="5029200" cy="457200"/>
          </a:xfrm>
          <a:prstGeom prst="rect">
            <a:avLst/>
          </a:prstGeom>
          <a:noFill/>
          <a:ln/>
        </p:spPr>
        <p:txBody>
          <a:bodyPr wrap="square" rtlCol="0" anchor="ctr"/>
          <a:lstStyle/>
          <a:p>
            <a:pPr marL="0" indent="0">
              <a:lnSpc>
                <a:spcPts val="1600"/>
              </a:lnSpc>
              <a:buNone/>
            </a:pPr>
            <a:r>
              <a:rPr lang="en-US" sz="1350" dirty="0">
                <a:solidFill>
                  <a:srgbClr val="0B2B2E"/>
                </a:solidFill>
                <a:latin typeface="Calibri" pitchFamily="34" charset="0"/>
                <a:ea typeface="Calibri" pitchFamily="34" charset="-122"/>
                <a:cs typeface="Calibri" pitchFamily="34" charset="-120"/>
              </a:rPr>
              <a:t>Missing values scattered across nearly every column</a:t>
            </a:r>
            <a:endParaRPr lang="en-US" sz="1350" dirty="0"/>
          </a:p>
        </p:txBody>
      </p:sp>
      <p:sp>
        <p:nvSpPr>
          <p:cNvPr id="20" name="Shape 18"/>
          <p:cNvSpPr/>
          <p:nvPr/>
        </p:nvSpPr>
        <p:spPr>
          <a:xfrm>
            <a:off x="6309360" y="3227832"/>
            <a:ext cx="128016" cy="128016"/>
          </a:xfrm>
          <a:prstGeom prst="ellipse">
            <a:avLst/>
          </a:prstGeom>
          <a:solidFill>
            <a:srgbClr val="00A896"/>
          </a:solidFill>
          <a:ln/>
        </p:spPr>
        <p:txBody>
          <a:bodyPr/>
          <a:lstStyle/>
          <a:p>
            <a:endParaRPr lang="en-EG"/>
          </a:p>
        </p:txBody>
      </p:sp>
      <p:sp>
        <p:nvSpPr>
          <p:cNvPr id="21" name="Text 19"/>
          <p:cNvSpPr/>
          <p:nvPr/>
        </p:nvSpPr>
        <p:spPr>
          <a:xfrm>
            <a:off x="6583680" y="3099816"/>
            <a:ext cx="5029200" cy="457200"/>
          </a:xfrm>
          <a:prstGeom prst="rect">
            <a:avLst/>
          </a:prstGeom>
          <a:noFill/>
          <a:ln/>
        </p:spPr>
        <p:txBody>
          <a:bodyPr wrap="square" rtlCol="0" anchor="ctr"/>
          <a:lstStyle/>
          <a:p>
            <a:pPr marL="0" indent="0">
              <a:lnSpc>
                <a:spcPts val="1600"/>
              </a:lnSpc>
              <a:buNone/>
            </a:pPr>
            <a:r>
              <a:rPr lang="en-US" sz="1350" dirty="0">
                <a:solidFill>
                  <a:srgbClr val="0B2B2E"/>
                </a:solidFill>
                <a:latin typeface="Calibri" pitchFamily="34" charset="0"/>
                <a:ea typeface="Calibri" pitchFamily="34" charset="-122"/>
                <a:cs typeface="Calibri" pitchFamily="34" charset="-120"/>
              </a:rPr>
              <a:t>A literal "?" used as a missing-value marker</a:t>
            </a:r>
            <a:endParaRPr lang="en-US" sz="1350" dirty="0"/>
          </a:p>
        </p:txBody>
      </p:sp>
      <p:sp>
        <p:nvSpPr>
          <p:cNvPr id="22" name="Shape 20"/>
          <p:cNvSpPr/>
          <p:nvPr/>
        </p:nvSpPr>
        <p:spPr>
          <a:xfrm>
            <a:off x="6309360" y="3794760"/>
            <a:ext cx="128016" cy="128016"/>
          </a:xfrm>
          <a:prstGeom prst="ellipse">
            <a:avLst/>
          </a:prstGeom>
          <a:solidFill>
            <a:srgbClr val="00A896"/>
          </a:solidFill>
          <a:ln/>
        </p:spPr>
        <p:txBody>
          <a:bodyPr/>
          <a:lstStyle/>
          <a:p>
            <a:endParaRPr lang="en-EG"/>
          </a:p>
        </p:txBody>
      </p:sp>
      <p:sp>
        <p:nvSpPr>
          <p:cNvPr id="23" name="Text 21"/>
          <p:cNvSpPr/>
          <p:nvPr/>
        </p:nvSpPr>
        <p:spPr>
          <a:xfrm>
            <a:off x="6583680" y="3666744"/>
            <a:ext cx="5029200" cy="457200"/>
          </a:xfrm>
          <a:prstGeom prst="rect">
            <a:avLst/>
          </a:prstGeom>
          <a:noFill/>
          <a:ln/>
        </p:spPr>
        <p:txBody>
          <a:bodyPr wrap="square" rtlCol="0" anchor="ctr"/>
          <a:lstStyle/>
          <a:p>
            <a:pPr marL="0" indent="0">
              <a:lnSpc>
                <a:spcPts val="1600"/>
              </a:lnSpc>
              <a:buNone/>
            </a:pPr>
            <a:r>
              <a:rPr lang="en-US" sz="1350" dirty="0">
                <a:solidFill>
                  <a:srgbClr val="0B2B2E"/>
                </a:solidFill>
                <a:latin typeface="Calibri" pitchFamily="34" charset="0"/>
                <a:ea typeface="Calibri" pitchFamily="34" charset="-122"/>
                <a:cs typeface="Calibri" pitchFamily="34" charset="-120"/>
              </a:rPr>
              <a:t>Embedded tab characters inside cell values</a:t>
            </a:r>
            <a:endParaRPr lang="en-US" sz="1350" dirty="0"/>
          </a:p>
        </p:txBody>
      </p:sp>
      <p:sp>
        <p:nvSpPr>
          <p:cNvPr id="24" name="Shape 22"/>
          <p:cNvSpPr/>
          <p:nvPr/>
        </p:nvSpPr>
        <p:spPr>
          <a:xfrm>
            <a:off x="6309360" y="4361688"/>
            <a:ext cx="128016" cy="128016"/>
          </a:xfrm>
          <a:prstGeom prst="ellipse">
            <a:avLst/>
          </a:prstGeom>
          <a:solidFill>
            <a:srgbClr val="00A896"/>
          </a:solidFill>
          <a:ln/>
        </p:spPr>
        <p:txBody>
          <a:bodyPr/>
          <a:lstStyle/>
          <a:p>
            <a:endParaRPr lang="en-EG"/>
          </a:p>
        </p:txBody>
      </p:sp>
      <p:sp>
        <p:nvSpPr>
          <p:cNvPr id="25" name="Text 23"/>
          <p:cNvSpPr/>
          <p:nvPr/>
        </p:nvSpPr>
        <p:spPr>
          <a:xfrm>
            <a:off x="6583680" y="4233672"/>
            <a:ext cx="5029200" cy="457200"/>
          </a:xfrm>
          <a:prstGeom prst="rect">
            <a:avLst/>
          </a:prstGeom>
          <a:noFill/>
          <a:ln/>
        </p:spPr>
        <p:txBody>
          <a:bodyPr wrap="square" rtlCol="0" anchor="ctr"/>
          <a:lstStyle/>
          <a:p>
            <a:pPr marL="0" indent="0">
              <a:lnSpc>
                <a:spcPts val="1600"/>
              </a:lnSpc>
              <a:buNone/>
            </a:pPr>
            <a:r>
              <a:rPr lang="en-US" sz="1350" dirty="0">
                <a:solidFill>
                  <a:srgbClr val="0B2B2E"/>
                </a:solidFill>
                <a:latin typeface="Calibri" pitchFamily="34" charset="0"/>
                <a:ea typeface="Calibri" pitchFamily="34" charset="-122"/>
                <a:cs typeface="Calibri" pitchFamily="34" charset="-120"/>
              </a:rPr>
              <a:t>Numeric columns stored as text due to stray tokens</a:t>
            </a:r>
            <a:endParaRPr lang="en-US" sz="1350" dirty="0"/>
          </a:p>
        </p:txBody>
      </p:sp>
      <p:sp>
        <p:nvSpPr>
          <p:cNvPr id="26" name="Shape 24"/>
          <p:cNvSpPr/>
          <p:nvPr/>
        </p:nvSpPr>
        <p:spPr>
          <a:xfrm>
            <a:off x="6309360" y="4928616"/>
            <a:ext cx="128016" cy="128016"/>
          </a:xfrm>
          <a:prstGeom prst="ellipse">
            <a:avLst/>
          </a:prstGeom>
          <a:solidFill>
            <a:srgbClr val="00A896"/>
          </a:solidFill>
          <a:ln/>
        </p:spPr>
        <p:txBody>
          <a:bodyPr/>
          <a:lstStyle/>
          <a:p>
            <a:endParaRPr lang="en-EG"/>
          </a:p>
        </p:txBody>
      </p:sp>
      <p:sp>
        <p:nvSpPr>
          <p:cNvPr id="27" name="Text 25"/>
          <p:cNvSpPr/>
          <p:nvPr/>
        </p:nvSpPr>
        <p:spPr>
          <a:xfrm>
            <a:off x="6583680" y="4800600"/>
            <a:ext cx="5029200" cy="457200"/>
          </a:xfrm>
          <a:prstGeom prst="rect">
            <a:avLst/>
          </a:prstGeom>
          <a:noFill/>
          <a:ln/>
        </p:spPr>
        <p:txBody>
          <a:bodyPr wrap="square" rtlCol="0" anchor="ctr"/>
          <a:lstStyle/>
          <a:p>
            <a:pPr marL="0" indent="0">
              <a:lnSpc>
                <a:spcPts val="1600"/>
              </a:lnSpc>
              <a:buNone/>
            </a:pPr>
            <a:r>
              <a:rPr lang="en-US" sz="1350" dirty="0">
                <a:solidFill>
                  <a:srgbClr val="0B2B2E"/>
                </a:solidFill>
                <a:latin typeface="Calibri" pitchFamily="34" charset="0"/>
                <a:ea typeface="Calibri" pitchFamily="34" charset="-122"/>
                <a:cs typeface="Calibri" pitchFamily="34" charset="-120"/>
              </a:rPr>
              <a:t>One corrupted target label requiring a fix</a:t>
            </a:r>
            <a:endParaRPr lang="en-US" sz="1350" dirty="0"/>
          </a:p>
        </p:txBody>
      </p:sp>
      <p:sp>
        <p:nvSpPr>
          <p:cNvPr id="28" name="Text 26"/>
          <p:cNvSpPr/>
          <p:nvPr/>
        </p:nvSpPr>
        <p:spPr>
          <a:xfrm>
            <a:off x="11274552" y="6355080"/>
            <a:ext cx="548640" cy="320040"/>
          </a:xfrm>
          <a:prstGeom prst="rect">
            <a:avLst/>
          </a:prstGeom>
          <a:noFill/>
          <a:ln/>
        </p:spPr>
        <p:txBody>
          <a:bodyPr wrap="square" rtlCol="0" anchor="ctr"/>
          <a:lstStyle/>
          <a:p>
            <a:pPr marL="0" indent="0" algn="r">
              <a:buNone/>
            </a:pPr>
            <a:r>
              <a:rPr lang="en-US" sz="1100" dirty="0">
                <a:solidFill>
                  <a:srgbClr val="5C7A7D"/>
                </a:solidFill>
                <a:latin typeface="Calibri" pitchFamily="34" charset="0"/>
                <a:ea typeface="Calibri" pitchFamily="34" charset="-122"/>
                <a:cs typeface="Calibri"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marL="0" indent="0">
              <a:buNone/>
            </a:pPr>
            <a:r>
              <a:rPr lang="en-US" sz="1300" b="1" kern="0" spc="200" dirty="0">
                <a:solidFill>
                  <a:srgbClr val="00A896"/>
                </a:solidFill>
                <a:latin typeface="Calibri" pitchFamily="34" charset="0"/>
                <a:ea typeface="Calibri" pitchFamily="34" charset="-122"/>
                <a:cs typeface="Calibri" pitchFamily="34" charset="-120"/>
              </a:rPr>
              <a:t>03 · DATA CLEANING</a:t>
            </a:r>
            <a:endParaRPr lang="en-US" sz="1300" dirty="0"/>
          </a:p>
        </p:txBody>
      </p:sp>
      <p:sp>
        <p:nvSpPr>
          <p:cNvPr id="3" name="Text 1"/>
          <p:cNvSpPr/>
          <p:nvPr/>
        </p:nvSpPr>
        <p:spPr>
          <a:xfrm>
            <a:off x="548640" y="777240"/>
            <a:ext cx="10058400" cy="640080"/>
          </a:xfrm>
          <a:prstGeom prst="rect">
            <a:avLst/>
          </a:prstGeom>
          <a:noFill/>
          <a:ln/>
        </p:spPr>
        <p:txBody>
          <a:bodyPr wrap="square" rtlCol="0" anchor="ctr"/>
          <a:lstStyle/>
          <a:p>
            <a:pPr marL="0" indent="0">
              <a:buNone/>
            </a:pPr>
            <a:r>
              <a:rPr lang="en-US" sz="3200" b="1" dirty="0">
                <a:solidFill>
                  <a:srgbClr val="0B2B2E"/>
                </a:solidFill>
                <a:latin typeface="Cambria" pitchFamily="34" charset="0"/>
                <a:ea typeface="Cambria" pitchFamily="34" charset="-122"/>
                <a:cs typeface="Cambria" pitchFamily="34" charset="-120"/>
              </a:rPr>
              <a:t>From raw mess to model-ready</a:t>
            </a:r>
            <a:endParaRPr lang="en-US" sz="3200" dirty="0"/>
          </a:p>
        </p:txBody>
      </p:sp>
      <p:pic>
        <p:nvPicPr>
          <p:cNvPr id="4" name="Image 0" descr="/home/claude/ckd_project/figures/00_missingness.png"/>
          <p:cNvPicPr>
            <a:picLocks noChangeAspect="1"/>
          </p:cNvPicPr>
          <p:nvPr/>
        </p:nvPicPr>
        <p:blipFill>
          <a:blip r:embed="rId3"/>
          <a:stretch>
            <a:fillRect/>
          </a:stretch>
        </p:blipFill>
        <p:spPr>
          <a:xfrm>
            <a:off x="6675120" y="1554480"/>
            <a:ext cx="4937760" cy="2468880"/>
          </a:xfrm>
          <a:prstGeom prst="rect">
            <a:avLst/>
          </a:prstGeom>
        </p:spPr>
      </p:pic>
      <p:sp>
        <p:nvSpPr>
          <p:cNvPr id="5" name="Text 2"/>
          <p:cNvSpPr/>
          <p:nvPr/>
        </p:nvSpPr>
        <p:spPr>
          <a:xfrm>
            <a:off x="6675120" y="4023360"/>
            <a:ext cx="4937760" cy="320040"/>
          </a:xfrm>
          <a:prstGeom prst="rect">
            <a:avLst/>
          </a:prstGeom>
          <a:noFill/>
          <a:ln/>
        </p:spPr>
        <p:txBody>
          <a:bodyPr wrap="square" rtlCol="0" anchor="ctr"/>
          <a:lstStyle/>
          <a:p>
            <a:pPr marL="0" indent="0" algn="ctr">
              <a:buNone/>
            </a:pPr>
            <a:r>
              <a:rPr lang="en-US" sz="1100" i="1" dirty="0">
                <a:solidFill>
                  <a:srgbClr val="5C7A7D"/>
                </a:solidFill>
                <a:latin typeface="Calibri" pitchFamily="34" charset="0"/>
                <a:ea typeface="Calibri" pitchFamily="34" charset="-122"/>
                <a:cs typeface="Calibri" pitchFamily="34" charset="-120"/>
              </a:rPr>
              <a:t>Missing values per column, before imputation</a:t>
            </a:r>
            <a:endParaRPr lang="en-US" sz="1100" dirty="0"/>
          </a:p>
        </p:txBody>
      </p:sp>
      <p:sp>
        <p:nvSpPr>
          <p:cNvPr id="6" name="Shape 3"/>
          <p:cNvSpPr/>
          <p:nvPr/>
        </p:nvSpPr>
        <p:spPr>
          <a:xfrm>
            <a:off x="548640" y="1691640"/>
            <a:ext cx="457200" cy="457200"/>
          </a:xfrm>
          <a:prstGeom prst="roundRect">
            <a:avLst>
              <a:gd name="adj" fmla="val 16000"/>
            </a:avLst>
          </a:prstGeom>
          <a:solidFill>
            <a:srgbClr val="028090"/>
          </a:solidFill>
          <a:ln/>
        </p:spPr>
        <p:txBody>
          <a:bodyPr/>
          <a:lstStyle/>
          <a:p>
            <a:endParaRPr lang="en-EG"/>
          </a:p>
        </p:txBody>
      </p:sp>
      <p:sp>
        <p:nvSpPr>
          <p:cNvPr id="7" name="Text 4"/>
          <p:cNvSpPr/>
          <p:nvPr/>
        </p:nvSpPr>
        <p:spPr>
          <a:xfrm>
            <a:off x="548640" y="1691640"/>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5"/>
          <p:cNvSpPr/>
          <p:nvPr/>
        </p:nvSpPr>
        <p:spPr>
          <a:xfrm>
            <a:off x="1188720" y="1645920"/>
            <a:ext cx="5120640" cy="365760"/>
          </a:xfrm>
          <a:prstGeom prst="rect">
            <a:avLst/>
          </a:prstGeom>
          <a:noFill/>
          <a:ln/>
        </p:spPr>
        <p:txBody>
          <a:bodyPr wrap="square" rtlCol="0" anchor="ctr"/>
          <a:lstStyle/>
          <a:p>
            <a:pPr marL="0" indent="0">
              <a:buNone/>
            </a:pPr>
            <a:r>
              <a:rPr lang="en-US" sz="1500" b="1" dirty="0">
                <a:solidFill>
                  <a:srgbClr val="0B2B2E"/>
                </a:solidFill>
                <a:latin typeface="Calibri" pitchFamily="34" charset="0"/>
                <a:ea typeface="Calibri" pitchFamily="34" charset="-122"/>
                <a:cs typeface="Calibri" pitchFamily="34" charset="-120"/>
              </a:rPr>
              <a:t>Strip &amp; standardize</a:t>
            </a:r>
            <a:endParaRPr lang="en-US" sz="1500" dirty="0"/>
          </a:p>
        </p:txBody>
      </p:sp>
      <p:sp>
        <p:nvSpPr>
          <p:cNvPr id="9" name="Text 6"/>
          <p:cNvSpPr/>
          <p:nvPr/>
        </p:nvSpPr>
        <p:spPr>
          <a:xfrm>
            <a:off x="1188720" y="2011680"/>
            <a:ext cx="5120640" cy="502920"/>
          </a:xfrm>
          <a:prstGeom prst="rect">
            <a:avLst/>
          </a:prstGeom>
          <a:noFill/>
          <a:ln/>
        </p:spPr>
        <p:txBody>
          <a:bodyPr wrap="square" rtlCol="0" anchor="ctr"/>
          <a:lstStyle/>
          <a:p>
            <a:pPr marL="0" indent="0">
              <a:lnSpc>
                <a:spcPts val="1500"/>
              </a:lnSpc>
              <a:buNone/>
            </a:pPr>
            <a:r>
              <a:rPr lang="en-US" sz="1250" dirty="0">
                <a:solidFill>
                  <a:srgbClr val="5C7A7D"/>
                </a:solidFill>
                <a:latin typeface="Calibri" pitchFamily="34" charset="0"/>
                <a:ea typeface="Calibri" pitchFamily="34" charset="-122"/>
                <a:cs typeface="Calibri" pitchFamily="34" charset="-120"/>
              </a:rPr>
              <a:t>Whitespace/tabs removed; "?" and blanks unified to NaN</a:t>
            </a:r>
            <a:endParaRPr lang="en-US" sz="1250" dirty="0"/>
          </a:p>
        </p:txBody>
      </p:sp>
      <p:sp>
        <p:nvSpPr>
          <p:cNvPr id="10" name="Shape 7"/>
          <p:cNvSpPr/>
          <p:nvPr/>
        </p:nvSpPr>
        <p:spPr>
          <a:xfrm>
            <a:off x="548640" y="2560320"/>
            <a:ext cx="457200" cy="457200"/>
          </a:xfrm>
          <a:prstGeom prst="roundRect">
            <a:avLst>
              <a:gd name="adj" fmla="val 16000"/>
            </a:avLst>
          </a:prstGeom>
          <a:solidFill>
            <a:srgbClr val="028090"/>
          </a:solidFill>
          <a:ln/>
        </p:spPr>
        <p:txBody>
          <a:bodyPr/>
          <a:lstStyle/>
          <a:p>
            <a:endParaRPr lang="en-EG"/>
          </a:p>
        </p:txBody>
      </p:sp>
      <p:sp>
        <p:nvSpPr>
          <p:cNvPr id="11" name="Text 8"/>
          <p:cNvSpPr/>
          <p:nvPr/>
        </p:nvSpPr>
        <p:spPr>
          <a:xfrm>
            <a:off x="548640" y="2560320"/>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9"/>
          <p:cNvSpPr/>
          <p:nvPr/>
        </p:nvSpPr>
        <p:spPr>
          <a:xfrm>
            <a:off x="1188720" y="2514600"/>
            <a:ext cx="5120640" cy="365760"/>
          </a:xfrm>
          <a:prstGeom prst="rect">
            <a:avLst/>
          </a:prstGeom>
          <a:noFill/>
          <a:ln/>
        </p:spPr>
        <p:txBody>
          <a:bodyPr wrap="square" rtlCol="0" anchor="ctr"/>
          <a:lstStyle/>
          <a:p>
            <a:pPr marL="0" indent="0">
              <a:buNone/>
            </a:pPr>
            <a:r>
              <a:rPr lang="en-US" sz="1500" b="1" dirty="0">
                <a:solidFill>
                  <a:srgbClr val="0B2B2E"/>
                </a:solidFill>
                <a:latin typeface="Calibri" pitchFamily="34" charset="0"/>
                <a:ea typeface="Calibri" pitchFamily="34" charset="-122"/>
                <a:cs typeface="Calibri" pitchFamily="34" charset="-120"/>
              </a:rPr>
              <a:t>Fix labels &amp; types</a:t>
            </a:r>
            <a:endParaRPr lang="en-US" sz="1500" dirty="0"/>
          </a:p>
        </p:txBody>
      </p:sp>
      <p:sp>
        <p:nvSpPr>
          <p:cNvPr id="13" name="Text 10"/>
          <p:cNvSpPr/>
          <p:nvPr/>
        </p:nvSpPr>
        <p:spPr>
          <a:xfrm>
            <a:off x="1188720" y="2880360"/>
            <a:ext cx="5120640" cy="502920"/>
          </a:xfrm>
          <a:prstGeom prst="rect">
            <a:avLst/>
          </a:prstGeom>
          <a:noFill/>
          <a:ln/>
        </p:spPr>
        <p:txBody>
          <a:bodyPr wrap="square" rtlCol="0" anchor="ctr"/>
          <a:lstStyle/>
          <a:p>
            <a:pPr marL="0" indent="0">
              <a:lnSpc>
                <a:spcPts val="1500"/>
              </a:lnSpc>
              <a:buNone/>
            </a:pPr>
            <a:r>
              <a:rPr lang="en-US" sz="1250" dirty="0">
                <a:solidFill>
                  <a:srgbClr val="5C7A7D"/>
                </a:solidFill>
                <a:latin typeface="Calibri" pitchFamily="34" charset="0"/>
                <a:ea typeface="Calibri" pitchFamily="34" charset="-122"/>
                <a:cs typeface="Calibri" pitchFamily="34" charset="-120"/>
              </a:rPr>
              <a:t>Corrupted target label repaired; numeric columns coerced back from text</a:t>
            </a:r>
            <a:endParaRPr lang="en-US" sz="1250" dirty="0"/>
          </a:p>
        </p:txBody>
      </p:sp>
      <p:sp>
        <p:nvSpPr>
          <p:cNvPr id="14" name="Shape 11"/>
          <p:cNvSpPr/>
          <p:nvPr/>
        </p:nvSpPr>
        <p:spPr>
          <a:xfrm>
            <a:off x="548640" y="3429000"/>
            <a:ext cx="457200" cy="457200"/>
          </a:xfrm>
          <a:prstGeom prst="roundRect">
            <a:avLst>
              <a:gd name="adj" fmla="val 16000"/>
            </a:avLst>
          </a:prstGeom>
          <a:solidFill>
            <a:srgbClr val="028090"/>
          </a:solidFill>
          <a:ln/>
        </p:spPr>
        <p:txBody>
          <a:bodyPr/>
          <a:lstStyle/>
          <a:p>
            <a:endParaRPr lang="en-EG"/>
          </a:p>
        </p:txBody>
      </p:sp>
      <p:sp>
        <p:nvSpPr>
          <p:cNvPr id="15" name="Text 12"/>
          <p:cNvSpPr/>
          <p:nvPr/>
        </p:nvSpPr>
        <p:spPr>
          <a:xfrm>
            <a:off x="548640" y="3429000"/>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3"/>
          <p:cNvSpPr/>
          <p:nvPr/>
        </p:nvSpPr>
        <p:spPr>
          <a:xfrm>
            <a:off x="1188720" y="3383280"/>
            <a:ext cx="5120640" cy="365760"/>
          </a:xfrm>
          <a:prstGeom prst="rect">
            <a:avLst/>
          </a:prstGeom>
          <a:noFill/>
          <a:ln/>
        </p:spPr>
        <p:txBody>
          <a:bodyPr wrap="square" rtlCol="0" anchor="ctr"/>
          <a:lstStyle/>
          <a:p>
            <a:pPr marL="0" indent="0">
              <a:buNone/>
            </a:pPr>
            <a:r>
              <a:rPr lang="en-US" sz="1500" b="1" dirty="0">
                <a:solidFill>
                  <a:srgbClr val="0B2B2E"/>
                </a:solidFill>
                <a:latin typeface="Calibri" pitchFamily="34" charset="0"/>
                <a:ea typeface="Calibri" pitchFamily="34" charset="-122"/>
                <a:cs typeface="Calibri" pitchFamily="34" charset="-120"/>
              </a:rPr>
              <a:t>Drop identifier</a:t>
            </a:r>
            <a:endParaRPr lang="en-US" sz="1500" dirty="0"/>
          </a:p>
        </p:txBody>
      </p:sp>
      <p:sp>
        <p:nvSpPr>
          <p:cNvPr id="17" name="Text 14"/>
          <p:cNvSpPr/>
          <p:nvPr/>
        </p:nvSpPr>
        <p:spPr>
          <a:xfrm>
            <a:off x="1188720" y="3749040"/>
            <a:ext cx="5120640" cy="502920"/>
          </a:xfrm>
          <a:prstGeom prst="rect">
            <a:avLst/>
          </a:prstGeom>
          <a:noFill/>
          <a:ln/>
        </p:spPr>
        <p:txBody>
          <a:bodyPr wrap="square" rtlCol="0" anchor="ctr"/>
          <a:lstStyle/>
          <a:p>
            <a:pPr marL="0" indent="0">
              <a:lnSpc>
                <a:spcPts val="1500"/>
              </a:lnSpc>
              <a:buNone/>
            </a:pPr>
            <a:r>
              <a:rPr lang="en-US" sz="1250" dirty="0">
                <a:solidFill>
                  <a:srgbClr val="5C7A7D"/>
                </a:solidFill>
                <a:latin typeface="Calibri" pitchFamily="34" charset="0"/>
                <a:ea typeface="Calibri" pitchFamily="34" charset="-122"/>
                <a:cs typeface="Calibri" pitchFamily="34" charset="-120"/>
              </a:rPr>
              <a:t>The id column carries no predictive information</a:t>
            </a:r>
            <a:endParaRPr lang="en-US" sz="1250" dirty="0"/>
          </a:p>
        </p:txBody>
      </p:sp>
      <p:sp>
        <p:nvSpPr>
          <p:cNvPr id="18" name="Shape 15"/>
          <p:cNvSpPr/>
          <p:nvPr/>
        </p:nvSpPr>
        <p:spPr>
          <a:xfrm>
            <a:off x="548640" y="4297680"/>
            <a:ext cx="457200" cy="457200"/>
          </a:xfrm>
          <a:prstGeom prst="roundRect">
            <a:avLst>
              <a:gd name="adj" fmla="val 16000"/>
            </a:avLst>
          </a:prstGeom>
          <a:solidFill>
            <a:srgbClr val="028090"/>
          </a:solidFill>
          <a:ln/>
        </p:spPr>
        <p:txBody>
          <a:bodyPr/>
          <a:lstStyle/>
          <a:p>
            <a:endParaRPr lang="en-EG"/>
          </a:p>
        </p:txBody>
      </p:sp>
      <p:sp>
        <p:nvSpPr>
          <p:cNvPr id="19" name="Text 16"/>
          <p:cNvSpPr/>
          <p:nvPr/>
        </p:nvSpPr>
        <p:spPr>
          <a:xfrm>
            <a:off x="548640" y="4297680"/>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7"/>
          <p:cNvSpPr/>
          <p:nvPr/>
        </p:nvSpPr>
        <p:spPr>
          <a:xfrm>
            <a:off x="1188720" y="4251960"/>
            <a:ext cx="5120640" cy="365760"/>
          </a:xfrm>
          <a:prstGeom prst="rect">
            <a:avLst/>
          </a:prstGeom>
          <a:noFill/>
          <a:ln/>
        </p:spPr>
        <p:txBody>
          <a:bodyPr wrap="square" rtlCol="0" anchor="ctr"/>
          <a:lstStyle/>
          <a:p>
            <a:pPr marL="0" indent="0">
              <a:buNone/>
            </a:pPr>
            <a:r>
              <a:rPr lang="en-US" sz="1500" b="1" dirty="0">
                <a:solidFill>
                  <a:srgbClr val="0B2B2E"/>
                </a:solidFill>
                <a:latin typeface="Calibri" pitchFamily="34" charset="0"/>
                <a:ea typeface="Calibri" pitchFamily="34" charset="-122"/>
                <a:cs typeface="Calibri" pitchFamily="34" charset="-120"/>
              </a:rPr>
              <a:t>Impute</a:t>
            </a:r>
            <a:endParaRPr lang="en-US" sz="1500" dirty="0"/>
          </a:p>
        </p:txBody>
      </p:sp>
      <p:sp>
        <p:nvSpPr>
          <p:cNvPr id="21" name="Text 18"/>
          <p:cNvSpPr/>
          <p:nvPr/>
        </p:nvSpPr>
        <p:spPr>
          <a:xfrm>
            <a:off x="1188720" y="4617720"/>
            <a:ext cx="5120640" cy="502920"/>
          </a:xfrm>
          <a:prstGeom prst="rect">
            <a:avLst/>
          </a:prstGeom>
          <a:noFill/>
          <a:ln/>
        </p:spPr>
        <p:txBody>
          <a:bodyPr wrap="square" rtlCol="0" anchor="ctr"/>
          <a:lstStyle/>
          <a:p>
            <a:pPr marL="0" indent="0">
              <a:lnSpc>
                <a:spcPts val="1500"/>
              </a:lnSpc>
              <a:buNone/>
            </a:pPr>
            <a:r>
              <a:rPr lang="en-US" sz="1250" dirty="0">
                <a:solidFill>
                  <a:srgbClr val="5C7A7D"/>
                </a:solidFill>
                <a:latin typeface="Calibri" pitchFamily="34" charset="0"/>
                <a:ea typeface="Calibri" pitchFamily="34" charset="-122"/>
                <a:cs typeface="Calibri" pitchFamily="34" charset="-120"/>
              </a:rPr>
              <a:t>Numeric → column median (robust to skewed labs); categorical → column mode</a:t>
            </a:r>
            <a:endParaRPr lang="en-US" sz="1250" dirty="0"/>
          </a:p>
        </p:txBody>
      </p:sp>
      <p:sp>
        <p:nvSpPr>
          <p:cNvPr id="22" name="Shape 19"/>
          <p:cNvSpPr/>
          <p:nvPr/>
        </p:nvSpPr>
        <p:spPr>
          <a:xfrm>
            <a:off x="548640" y="5532120"/>
            <a:ext cx="5760720" cy="777240"/>
          </a:xfrm>
          <a:prstGeom prst="roundRect">
            <a:avLst>
              <a:gd name="adj" fmla="val 11765"/>
            </a:avLst>
          </a:prstGeom>
          <a:solidFill>
            <a:srgbClr val="013A40"/>
          </a:solidFill>
          <a:ln/>
        </p:spPr>
        <p:txBody>
          <a:bodyPr/>
          <a:lstStyle/>
          <a:p>
            <a:endParaRPr lang="en-EG"/>
          </a:p>
        </p:txBody>
      </p:sp>
      <p:sp>
        <p:nvSpPr>
          <p:cNvPr id="23" name="Text 20"/>
          <p:cNvSpPr/>
          <p:nvPr/>
        </p:nvSpPr>
        <p:spPr>
          <a:xfrm>
            <a:off x="777240" y="5532120"/>
            <a:ext cx="5394960" cy="777240"/>
          </a:xfrm>
          <a:prstGeom prst="rect">
            <a:avLst/>
          </a:prstGeom>
          <a:noFill/>
          <a:ln/>
        </p:spPr>
        <p:txBody>
          <a:bodyPr wrap="square" rtlCol="0" anchor="ctr"/>
          <a:lstStyle/>
          <a:p>
            <a:pPr marL="0" indent="0">
              <a:buNone/>
            </a:pPr>
            <a:r>
              <a:rPr lang="en-US" sz="1400" b="1" dirty="0">
                <a:solidFill>
                  <a:srgbClr val="02C39A"/>
                </a:solidFill>
                <a:latin typeface="Calibri" pitchFamily="34" charset="0"/>
                <a:ea typeface="Calibri" pitchFamily="34" charset="-122"/>
                <a:cs typeface="Calibri" pitchFamily="34" charset="-120"/>
              </a:rPr>
              <a:t>Result: 0 missing values across 400 rows × 24 usable features</a:t>
            </a:r>
            <a:endParaRPr lang="en-US" sz="1400" dirty="0"/>
          </a:p>
        </p:txBody>
      </p:sp>
      <p:sp>
        <p:nvSpPr>
          <p:cNvPr id="24" name="Text 21"/>
          <p:cNvSpPr/>
          <p:nvPr/>
        </p:nvSpPr>
        <p:spPr>
          <a:xfrm>
            <a:off x="11274552" y="6355080"/>
            <a:ext cx="548640" cy="320040"/>
          </a:xfrm>
          <a:prstGeom prst="rect">
            <a:avLst/>
          </a:prstGeom>
          <a:noFill/>
          <a:ln/>
        </p:spPr>
        <p:txBody>
          <a:bodyPr wrap="square" rtlCol="0" anchor="ctr"/>
          <a:lstStyle/>
          <a:p>
            <a:pPr marL="0" indent="0" algn="r">
              <a:buNone/>
            </a:pPr>
            <a:r>
              <a:rPr lang="en-US" sz="1100" dirty="0">
                <a:solidFill>
                  <a:srgbClr val="5C7A7D"/>
                </a:solidFill>
                <a:latin typeface="Calibri" pitchFamily="34" charset="0"/>
                <a:ea typeface="Calibri" pitchFamily="34" charset="-122"/>
                <a:cs typeface="Calibri"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marL="0" indent="0">
              <a:buNone/>
            </a:pPr>
            <a:r>
              <a:rPr lang="en-US" sz="1300" b="1" kern="0" spc="200" dirty="0">
                <a:solidFill>
                  <a:srgbClr val="00A896"/>
                </a:solidFill>
                <a:latin typeface="Calibri" pitchFamily="34" charset="0"/>
                <a:ea typeface="Calibri" pitchFamily="34" charset="-122"/>
                <a:cs typeface="Calibri" pitchFamily="34" charset="-120"/>
              </a:rPr>
              <a:t>04 · EXPLORATORY DATA ANALYSIS</a:t>
            </a:r>
            <a:endParaRPr lang="en-US" sz="1300" dirty="0"/>
          </a:p>
        </p:txBody>
      </p:sp>
      <p:sp>
        <p:nvSpPr>
          <p:cNvPr id="3" name="Text 1"/>
          <p:cNvSpPr/>
          <p:nvPr/>
        </p:nvSpPr>
        <p:spPr>
          <a:xfrm>
            <a:off x="548640" y="777240"/>
            <a:ext cx="10058400" cy="640080"/>
          </a:xfrm>
          <a:prstGeom prst="rect">
            <a:avLst/>
          </a:prstGeom>
          <a:noFill/>
          <a:ln/>
        </p:spPr>
        <p:txBody>
          <a:bodyPr wrap="square" rtlCol="0" anchor="ctr"/>
          <a:lstStyle/>
          <a:p>
            <a:pPr marL="0" indent="0">
              <a:buNone/>
            </a:pPr>
            <a:r>
              <a:rPr lang="en-US" sz="3200" b="1" dirty="0">
                <a:solidFill>
                  <a:srgbClr val="0B2B2E"/>
                </a:solidFill>
                <a:latin typeface="Cambria" pitchFamily="34" charset="0"/>
                <a:ea typeface="Cambria" pitchFamily="34" charset="-122"/>
                <a:cs typeface="Cambria" pitchFamily="34" charset="-120"/>
              </a:rPr>
              <a:t>The clinical signal is visible early</a:t>
            </a:r>
            <a:endParaRPr lang="en-US" sz="3200" dirty="0"/>
          </a:p>
        </p:txBody>
      </p:sp>
      <p:sp>
        <p:nvSpPr>
          <p:cNvPr id="4" name="Text 2"/>
          <p:cNvSpPr/>
          <p:nvPr/>
        </p:nvSpPr>
        <p:spPr>
          <a:xfrm>
            <a:off x="548640" y="1417320"/>
            <a:ext cx="10058400" cy="365760"/>
          </a:xfrm>
          <a:prstGeom prst="rect">
            <a:avLst/>
          </a:prstGeom>
          <a:noFill/>
          <a:ln/>
        </p:spPr>
        <p:txBody>
          <a:bodyPr wrap="square" rtlCol="0" anchor="ctr"/>
          <a:lstStyle/>
          <a:p>
            <a:pPr marL="0" indent="0">
              <a:buNone/>
            </a:pPr>
            <a:r>
              <a:rPr lang="en-US" sz="1300" dirty="0">
                <a:solidFill>
                  <a:srgbClr val="5C7A7D"/>
                </a:solidFill>
                <a:latin typeface="Calibri" pitchFamily="34" charset="0"/>
                <a:ea typeface="Calibri" pitchFamily="34" charset="-122"/>
                <a:cs typeface="Calibri" pitchFamily="34" charset="-120"/>
              </a:rPr>
              <a:t>6+ variables examined, univariate + bivariate, across 5 plot types</a:t>
            </a:r>
            <a:endParaRPr lang="en-US" sz="1300" dirty="0"/>
          </a:p>
        </p:txBody>
      </p:sp>
      <p:pic>
        <p:nvPicPr>
          <p:cNvPr id="5" name="Image 0" descr="/home/claude/ckd_project/figures/04_bivariate_boxplots.png"/>
          <p:cNvPicPr>
            <a:picLocks noChangeAspect="1"/>
          </p:cNvPicPr>
          <p:nvPr/>
        </p:nvPicPr>
        <p:blipFill>
          <a:blip r:embed="rId3"/>
          <a:stretch>
            <a:fillRect/>
          </a:stretch>
        </p:blipFill>
        <p:spPr>
          <a:xfrm>
            <a:off x="548640" y="1874520"/>
            <a:ext cx="6949440" cy="3703320"/>
          </a:xfrm>
          <a:prstGeom prst="rect">
            <a:avLst/>
          </a:prstGeom>
        </p:spPr>
      </p:pic>
      <p:sp>
        <p:nvSpPr>
          <p:cNvPr id="6" name="Text 3"/>
          <p:cNvSpPr/>
          <p:nvPr/>
        </p:nvSpPr>
        <p:spPr>
          <a:xfrm>
            <a:off x="548640" y="5577840"/>
            <a:ext cx="6949440" cy="274320"/>
          </a:xfrm>
          <a:prstGeom prst="rect">
            <a:avLst/>
          </a:prstGeom>
          <a:noFill/>
          <a:ln/>
        </p:spPr>
        <p:txBody>
          <a:bodyPr wrap="square" rtlCol="0" anchor="ctr"/>
          <a:lstStyle/>
          <a:p>
            <a:pPr marL="0" indent="0" algn="ctr">
              <a:buNone/>
            </a:pPr>
            <a:r>
              <a:rPr lang="en-US" sz="1100" i="1" dirty="0">
                <a:solidFill>
                  <a:srgbClr val="5C7A7D"/>
                </a:solidFill>
                <a:latin typeface="Calibri" pitchFamily="34" charset="0"/>
                <a:ea typeface="Calibri" pitchFamily="34" charset="-122"/>
                <a:cs typeface="Calibri" pitchFamily="34" charset="-120"/>
              </a:rPr>
              <a:t>Numeric features vs. classification (bivariate)</a:t>
            </a:r>
            <a:endParaRPr lang="en-US" sz="1100" dirty="0"/>
          </a:p>
        </p:txBody>
      </p:sp>
      <p:sp>
        <p:nvSpPr>
          <p:cNvPr id="7" name="Text 4"/>
          <p:cNvSpPr/>
          <p:nvPr/>
        </p:nvSpPr>
        <p:spPr>
          <a:xfrm>
            <a:off x="7818120" y="1874520"/>
            <a:ext cx="3840480" cy="365760"/>
          </a:xfrm>
          <a:prstGeom prst="rect">
            <a:avLst/>
          </a:prstGeom>
          <a:noFill/>
          <a:ln/>
        </p:spPr>
        <p:txBody>
          <a:bodyPr wrap="square" rtlCol="0" anchor="ctr"/>
          <a:lstStyle/>
          <a:p>
            <a:pPr marL="0" indent="0">
              <a:buNone/>
            </a:pPr>
            <a:r>
              <a:rPr lang="en-US" sz="1600" b="1" dirty="0">
                <a:solidFill>
                  <a:srgbClr val="0B2B2E"/>
                </a:solidFill>
                <a:latin typeface="Calibri" pitchFamily="34" charset="0"/>
                <a:ea typeface="Calibri" pitchFamily="34" charset="-122"/>
                <a:cs typeface="Calibri" pitchFamily="34" charset="-120"/>
              </a:rPr>
              <a:t>Key reading</a:t>
            </a:r>
            <a:endParaRPr lang="en-US" sz="1600" dirty="0"/>
          </a:p>
        </p:txBody>
      </p:sp>
      <p:sp>
        <p:nvSpPr>
          <p:cNvPr id="8" name="Shape 5"/>
          <p:cNvSpPr/>
          <p:nvPr/>
        </p:nvSpPr>
        <p:spPr>
          <a:xfrm>
            <a:off x="7818120" y="2432304"/>
            <a:ext cx="128016" cy="128016"/>
          </a:xfrm>
          <a:prstGeom prst="ellipse">
            <a:avLst/>
          </a:prstGeom>
          <a:solidFill>
            <a:srgbClr val="00A896"/>
          </a:solidFill>
          <a:ln/>
        </p:spPr>
        <p:txBody>
          <a:bodyPr/>
          <a:lstStyle/>
          <a:p>
            <a:endParaRPr lang="en-EG"/>
          </a:p>
        </p:txBody>
      </p:sp>
      <p:sp>
        <p:nvSpPr>
          <p:cNvPr id="9" name="Text 6"/>
          <p:cNvSpPr/>
          <p:nvPr/>
        </p:nvSpPr>
        <p:spPr>
          <a:xfrm>
            <a:off x="8092440" y="2286000"/>
            <a:ext cx="3566160" cy="685800"/>
          </a:xfrm>
          <a:prstGeom prst="rect">
            <a:avLst/>
          </a:prstGeom>
          <a:noFill/>
          <a:ln/>
        </p:spPr>
        <p:txBody>
          <a:bodyPr wrap="square" rtlCol="0" anchor="ctr"/>
          <a:lstStyle/>
          <a:p>
            <a:pPr marL="0" indent="0">
              <a:lnSpc>
                <a:spcPts val="1600"/>
              </a:lnSpc>
              <a:buNone/>
            </a:pPr>
            <a:r>
              <a:rPr lang="en-US" sz="1300" dirty="0">
                <a:solidFill>
                  <a:srgbClr val="0B2B2E"/>
                </a:solidFill>
                <a:latin typeface="Calibri" pitchFamily="34" charset="0"/>
                <a:ea typeface="Calibri" pitchFamily="34" charset="-122"/>
                <a:cs typeface="Calibri" pitchFamily="34" charset="-120"/>
              </a:rPr>
              <a:t>Hemoglobin &amp; packed-cell-volume are visibly lower in CKD patients</a:t>
            </a:r>
            <a:endParaRPr lang="en-US" sz="1300" dirty="0"/>
          </a:p>
        </p:txBody>
      </p:sp>
      <p:sp>
        <p:nvSpPr>
          <p:cNvPr id="10" name="Shape 7"/>
          <p:cNvSpPr/>
          <p:nvPr/>
        </p:nvSpPr>
        <p:spPr>
          <a:xfrm>
            <a:off x="7818120" y="3300984"/>
            <a:ext cx="128016" cy="128016"/>
          </a:xfrm>
          <a:prstGeom prst="ellipse">
            <a:avLst/>
          </a:prstGeom>
          <a:solidFill>
            <a:srgbClr val="00A896"/>
          </a:solidFill>
          <a:ln/>
        </p:spPr>
        <p:txBody>
          <a:bodyPr/>
          <a:lstStyle/>
          <a:p>
            <a:endParaRPr lang="en-EG"/>
          </a:p>
        </p:txBody>
      </p:sp>
      <p:sp>
        <p:nvSpPr>
          <p:cNvPr id="11" name="Text 8"/>
          <p:cNvSpPr/>
          <p:nvPr/>
        </p:nvSpPr>
        <p:spPr>
          <a:xfrm>
            <a:off x="8092440" y="3154680"/>
            <a:ext cx="3566160" cy="685800"/>
          </a:xfrm>
          <a:prstGeom prst="rect">
            <a:avLst/>
          </a:prstGeom>
          <a:noFill/>
          <a:ln/>
        </p:spPr>
        <p:txBody>
          <a:bodyPr wrap="square" rtlCol="0" anchor="ctr"/>
          <a:lstStyle/>
          <a:p>
            <a:pPr marL="0" indent="0">
              <a:lnSpc>
                <a:spcPts val="1600"/>
              </a:lnSpc>
              <a:buNone/>
            </a:pPr>
            <a:r>
              <a:rPr lang="en-US" sz="1300" dirty="0">
                <a:solidFill>
                  <a:srgbClr val="0B2B2E"/>
                </a:solidFill>
                <a:latin typeface="Calibri" pitchFamily="34" charset="0"/>
                <a:ea typeface="Calibri" pitchFamily="34" charset="-122"/>
                <a:cs typeface="Calibri" pitchFamily="34" charset="-120"/>
              </a:rPr>
              <a:t>Serum creatinine is visibly higher in CKD patients</a:t>
            </a:r>
            <a:endParaRPr lang="en-US" sz="1300" dirty="0"/>
          </a:p>
        </p:txBody>
      </p:sp>
      <p:sp>
        <p:nvSpPr>
          <p:cNvPr id="12" name="Shape 9"/>
          <p:cNvSpPr/>
          <p:nvPr/>
        </p:nvSpPr>
        <p:spPr>
          <a:xfrm>
            <a:off x="7818120" y="4169664"/>
            <a:ext cx="128016" cy="128016"/>
          </a:xfrm>
          <a:prstGeom prst="ellipse">
            <a:avLst/>
          </a:prstGeom>
          <a:solidFill>
            <a:srgbClr val="00A896"/>
          </a:solidFill>
          <a:ln/>
        </p:spPr>
        <p:txBody>
          <a:bodyPr/>
          <a:lstStyle/>
          <a:p>
            <a:endParaRPr lang="en-EG"/>
          </a:p>
        </p:txBody>
      </p:sp>
      <p:sp>
        <p:nvSpPr>
          <p:cNvPr id="13" name="Text 10"/>
          <p:cNvSpPr/>
          <p:nvPr/>
        </p:nvSpPr>
        <p:spPr>
          <a:xfrm>
            <a:off x="8092440" y="4023360"/>
            <a:ext cx="3566160" cy="685800"/>
          </a:xfrm>
          <a:prstGeom prst="rect">
            <a:avLst/>
          </a:prstGeom>
          <a:noFill/>
          <a:ln/>
        </p:spPr>
        <p:txBody>
          <a:bodyPr wrap="square" rtlCol="0" anchor="ctr"/>
          <a:lstStyle/>
          <a:p>
            <a:pPr marL="0" indent="0">
              <a:lnSpc>
                <a:spcPts val="1600"/>
              </a:lnSpc>
              <a:buNone/>
            </a:pPr>
            <a:r>
              <a:rPr lang="en-US" sz="1300" dirty="0">
                <a:solidFill>
                  <a:srgbClr val="0B2B2E"/>
                </a:solidFill>
                <a:latin typeface="Calibri" pitchFamily="34" charset="0"/>
                <a:ea typeface="Calibri" pitchFamily="34" charset="-122"/>
                <a:cs typeface="Calibri" pitchFamily="34" charset="-120"/>
              </a:rPr>
              <a:t>Matches clinical expectations — a good sanity check on the cleaned data</a:t>
            </a:r>
            <a:endParaRPr lang="en-US" sz="1300" dirty="0"/>
          </a:p>
        </p:txBody>
      </p:sp>
      <p:sp>
        <p:nvSpPr>
          <p:cNvPr id="14" name="Shape 11"/>
          <p:cNvSpPr/>
          <p:nvPr/>
        </p:nvSpPr>
        <p:spPr>
          <a:xfrm>
            <a:off x="7818120" y="5038344"/>
            <a:ext cx="128016" cy="128016"/>
          </a:xfrm>
          <a:prstGeom prst="ellipse">
            <a:avLst/>
          </a:prstGeom>
          <a:solidFill>
            <a:srgbClr val="00A896"/>
          </a:solidFill>
          <a:ln/>
        </p:spPr>
        <p:txBody>
          <a:bodyPr/>
          <a:lstStyle/>
          <a:p>
            <a:endParaRPr lang="en-EG"/>
          </a:p>
        </p:txBody>
      </p:sp>
      <p:sp>
        <p:nvSpPr>
          <p:cNvPr id="15" name="Text 12"/>
          <p:cNvSpPr/>
          <p:nvPr/>
        </p:nvSpPr>
        <p:spPr>
          <a:xfrm>
            <a:off x="8092440" y="4892040"/>
            <a:ext cx="3566160" cy="685800"/>
          </a:xfrm>
          <a:prstGeom prst="rect">
            <a:avLst/>
          </a:prstGeom>
          <a:noFill/>
          <a:ln/>
        </p:spPr>
        <p:txBody>
          <a:bodyPr wrap="square" rtlCol="0" anchor="ctr"/>
          <a:lstStyle/>
          <a:p>
            <a:pPr marL="0" indent="0">
              <a:lnSpc>
                <a:spcPts val="1600"/>
              </a:lnSpc>
              <a:buNone/>
            </a:pPr>
            <a:r>
              <a:rPr lang="en-US" sz="1300" dirty="0">
                <a:solidFill>
                  <a:srgbClr val="0B2B2E"/>
                </a:solidFill>
                <a:latin typeface="Calibri" pitchFamily="34" charset="0"/>
                <a:ea typeface="Calibri" pitchFamily="34" charset="-122"/>
                <a:cs typeface="Calibri" pitchFamily="34" charset="-120"/>
              </a:rPr>
              <a:t>5 plot types used: histograms, boxplots, count plots, stacked bar, correlation heatmap</a:t>
            </a:r>
            <a:endParaRPr lang="en-US" sz="1300" dirty="0"/>
          </a:p>
        </p:txBody>
      </p:sp>
      <p:sp>
        <p:nvSpPr>
          <p:cNvPr id="16" name="Text 13"/>
          <p:cNvSpPr/>
          <p:nvPr/>
        </p:nvSpPr>
        <p:spPr>
          <a:xfrm>
            <a:off x="11274552" y="6355080"/>
            <a:ext cx="548640" cy="320040"/>
          </a:xfrm>
          <a:prstGeom prst="rect">
            <a:avLst/>
          </a:prstGeom>
          <a:noFill/>
          <a:ln/>
        </p:spPr>
        <p:txBody>
          <a:bodyPr wrap="square" rtlCol="0" anchor="ctr"/>
          <a:lstStyle/>
          <a:p>
            <a:pPr marL="0" indent="0" algn="r">
              <a:buNone/>
            </a:pPr>
            <a:r>
              <a:rPr lang="en-US" sz="1100" dirty="0">
                <a:solidFill>
                  <a:srgbClr val="5C7A7D"/>
                </a:solidFill>
                <a:latin typeface="Calibri" pitchFamily="34" charset="0"/>
                <a:ea typeface="Calibri" pitchFamily="34" charset="-122"/>
                <a:cs typeface="Calibri"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marL="0" indent="0">
              <a:buNone/>
            </a:pPr>
            <a:r>
              <a:rPr lang="en-US" sz="1300" b="1" kern="0" spc="200" dirty="0">
                <a:solidFill>
                  <a:srgbClr val="00A896"/>
                </a:solidFill>
                <a:latin typeface="Calibri" pitchFamily="34" charset="0"/>
                <a:ea typeface="Calibri" pitchFamily="34" charset="-122"/>
                <a:cs typeface="Calibri" pitchFamily="34" charset="-120"/>
              </a:rPr>
              <a:t>04 · EXPLORATORY DATA ANALYSIS</a:t>
            </a:r>
            <a:endParaRPr lang="en-US" sz="1300" dirty="0"/>
          </a:p>
        </p:txBody>
      </p:sp>
      <p:sp>
        <p:nvSpPr>
          <p:cNvPr id="3" name="Text 1"/>
          <p:cNvSpPr/>
          <p:nvPr/>
        </p:nvSpPr>
        <p:spPr>
          <a:xfrm>
            <a:off x="548640" y="777240"/>
            <a:ext cx="10058400" cy="640080"/>
          </a:xfrm>
          <a:prstGeom prst="rect">
            <a:avLst/>
          </a:prstGeom>
          <a:noFill/>
          <a:ln/>
        </p:spPr>
        <p:txBody>
          <a:bodyPr wrap="square" rtlCol="0" anchor="ctr"/>
          <a:lstStyle/>
          <a:p>
            <a:pPr marL="0" indent="0">
              <a:buNone/>
            </a:pPr>
            <a:r>
              <a:rPr lang="en-US" sz="3200" b="1" dirty="0">
                <a:solidFill>
                  <a:srgbClr val="0B2B2E"/>
                </a:solidFill>
                <a:latin typeface="Cambria" pitchFamily="34" charset="0"/>
                <a:ea typeface="Cambria" pitchFamily="34" charset="-122"/>
                <a:cs typeface="Cambria" pitchFamily="34" charset="-120"/>
              </a:rPr>
              <a:t>How features relate to each other</a:t>
            </a:r>
            <a:endParaRPr lang="en-US" sz="3200" dirty="0"/>
          </a:p>
        </p:txBody>
      </p:sp>
      <p:pic>
        <p:nvPicPr>
          <p:cNvPr id="4" name="Image 0" descr="/home/claude/ckd_project/figures/05_correlation_heatmap.png"/>
          <p:cNvPicPr>
            <a:picLocks noChangeAspect="1"/>
          </p:cNvPicPr>
          <p:nvPr/>
        </p:nvPicPr>
        <p:blipFill>
          <a:blip r:embed="rId3"/>
          <a:stretch>
            <a:fillRect/>
          </a:stretch>
        </p:blipFill>
        <p:spPr>
          <a:xfrm>
            <a:off x="2788920" y="1463040"/>
            <a:ext cx="6583680" cy="5074920"/>
          </a:xfrm>
          <a:prstGeom prst="rect">
            <a:avLst/>
          </a:prstGeom>
        </p:spPr>
      </p:pic>
      <p:sp>
        <p:nvSpPr>
          <p:cNvPr id="5" name="Text 2"/>
          <p:cNvSpPr/>
          <p:nvPr/>
        </p:nvSpPr>
        <p:spPr>
          <a:xfrm>
            <a:off x="11274552" y="6355080"/>
            <a:ext cx="548640" cy="320040"/>
          </a:xfrm>
          <a:prstGeom prst="rect">
            <a:avLst/>
          </a:prstGeom>
          <a:noFill/>
          <a:ln/>
        </p:spPr>
        <p:txBody>
          <a:bodyPr wrap="square" rtlCol="0" anchor="ctr"/>
          <a:lstStyle/>
          <a:p>
            <a:pPr marL="0" indent="0" algn="r">
              <a:buNone/>
            </a:pPr>
            <a:r>
              <a:rPr lang="en-US" sz="1100" dirty="0">
                <a:solidFill>
                  <a:srgbClr val="5C7A7D"/>
                </a:solidFill>
                <a:latin typeface="Calibri" pitchFamily="34" charset="0"/>
                <a:ea typeface="Calibri" pitchFamily="34" charset="-122"/>
                <a:cs typeface="Calibri"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marL="0" indent="0">
              <a:buNone/>
            </a:pPr>
            <a:r>
              <a:rPr lang="en-US" sz="1300" b="1" kern="0" spc="200" dirty="0">
                <a:solidFill>
                  <a:srgbClr val="00A896"/>
                </a:solidFill>
                <a:latin typeface="Calibri" pitchFamily="34" charset="0"/>
                <a:ea typeface="Calibri" pitchFamily="34" charset="-122"/>
                <a:cs typeface="Calibri" pitchFamily="34" charset="-120"/>
              </a:rPr>
              <a:t>05 · FEATURE ENGINEERING &amp; SELECTION</a:t>
            </a:r>
            <a:endParaRPr lang="en-US" sz="1300" dirty="0"/>
          </a:p>
        </p:txBody>
      </p:sp>
      <p:sp>
        <p:nvSpPr>
          <p:cNvPr id="3" name="Text 1"/>
          <p:cNvSpPr/>
          <p:nvPr/>
        </p:nvSpPr>
        <p:spPr>
          <a:xfrm>
            <a:off x="548640" y="777240"/>
            <a:ext cx="10515600" cy="640080"/>
          </a:xfrm>
          <a:prstGeom prst="rect">
            <a:avLst/>
          </a:prstGeom>
          <a:noFill/>
          <a:ln/>
        </p:spPr>
        <p:txBody>
          <a:bodyPr wrap="square" rtlCol="0" anchor="ctr"/>
          <a:lstStyle/>
          <a:p>
            <a:pPr marL="0" indent="0">
              <a:buNone/>
            </a:pPr>
            <a:r>
              <a:rPr lang="en-US" sz="3000" b="1" dirty="0">
                <a:solidFill>
                  <a:srgbClr val="0B2B2E"/>
                </a:solidFill>
                <a:latin typeface="Cambria" pitchFamily="34" charset="0"/>
                <a:ea typeface="Cambria" pitchFamily="34" charset="-122"/>
                <a:cs typeface="Cambria" pitchFamily="34" charset="-120"/>
              </a:rPr>
              <a:t>Adding clinical knowledge, then trimming noise</a:t>
            </a:r>
            <a:endParaRPr lang="en-US" sz="3000" dirty="0"/>
          </a:p>
        </p:txBody>
      </p:sp>
      <p:sp>
        <p:nvSpPr>
          <p:cNvPr id="4" name="Shape 2"/>
          <p:cNvSpPr/>
          <p:nvPr/>
        </p:nvSpPr>
        <p:spPr>
          <a:xfrm>
            <a:off x="548640" y="1737360"/>
            <a:ext cx="5212080" cy="4297680"/>
          </a:xfrm>
          <a:prstGeom prst="roundRect">
            <a:avLst>
              <a:gd name="adj" fmla="val 2553"/>
            </a:avLst>
          </a:prstGeom>
          <a:solidFill>
            <a:srgbClr val="F2F7F7"/>
          </a:solidFill>
          <a:ln/>
        </p:spPr>
        <p:txBody>
          <a:bodyPr/>
          <a:lstStyle/>
          <a:p>
            <a:endParaRPr lang="en-EG"/>
          </a:p>
        </p:txBody>
      </p:sp>
      <p:sp>
        <p:nvSpPr>
          <p:cNvPr id="5" name="Text 3"/>
          <p:cNvSpPr/>
          <p:nvPr/>
        </p:nvSpPr>
        <p:spPr>
          <a:xfrm>
            <a:off x="868680" y="1965960"/>
            <a:ext cx="4572000" cy="411480"/>
          </a:xfrm>
          <a:prstGeom prst="rect">
            <a:avLst/>
          </a:prstGeom>
          <a:noFill/>
          <a:ln/>
        </p:spPr>
        <p:txBody>
          <a:bodyPr wrap="square" rtlCol="0" anchor="ctr"/>
          <a:lstStyle/>
          <a:p>
            <a:pPr marL="0" indent="0">
              <a:buNone/>
            </a:pPr>
            <a:r>
              <a:rPr lang="en-US" sz="1600" b="1" dirty="0">
                <a:solidFill>
                  <a:srgbClr val="028090"/>
                </a:solidFill>
                <a:latin typeface="Calibri" pitchFamily="34" charset="0"/>
                <a:ea typeface="Calibri" pitchFamily="34" charset="-122"/>
                <a:cs typeface="Calibri" pitchFamily="34" charset="-120"/>
              </a:rPr>
              <a:t>New engineered feature</a:t>
            </a:r>
            <a:endParaRPr lang="en-US" sz="1600" dirty="0"/>
          </a:p>
        </p:txBody>
      </p:sp>
      <p:sp>
        <p:nvSpPr>
          <p:cNvPr id="6" name="Text 4"/>
          <p:cNvSpPr/>
          <p:nvPr/>
        </p:nvSpPr>
        <p:spPr>
          <a:xfrm>
            <a:off x="868680" y="2423160"/>
            <a:ext cx="4572000" cy="457200"/>
          </a:xfrm>
          <a:prstGeom prst="rect">
            <a:avLst/>
          </a:prstGeom>
          <a:noFill/>
          <a:ln/>
        </p:spPr>
        <p:txBody>
          <a:bodyPr wrap="square" rtlCol="0" anchor="ctr"/>
          <a:lstStyle/>
          <a:p>
            <a:pPr marL="0" indent="0">
              <a:buNone/>
            </a:pPr>
            <a:r>
              <a:rPr lang="en-US" sz="1800" b="1" dirty="0">
                <a:solidFill>
                  <a:srgbClr val="0B2B2E"/>
                </a:solidFill>
                <a:latin typeface="Courier New" pitchFamily="34" charset="0"/>
                <a:ea typeface="Courier New" pitchFamily="34" charset="-122"/>
                <a:cs typeface="Courier New" pitchFamily="34" charset="-120"/>
              </a:rPr>
              <a:t>bun_creatinine_ratio</a:t>
            </a:r>
            <a:endParaRPr lang="en-US" sz="1800" dirty="0"/>
          </a:p>
        </p:txBody>
      </p:sp>
      <p:sp>
        <p:nvSpPr>
          <p:cNvPr id="7" name="Text 5"/>
          <p:cNvSpPr/>
          <p:nvPr/>
        </p:nvSpPr>
        <p:spPr>
          <a:xfrm>
            <a:off x="868680" y="2971800"/>
            <a:ext cx="4572000" cy="1463040"/>
          </a:xfrm>
          <a:prstGeom prst="rect">
            <a:avLst/>
          </a:prstGeom>
          <a:noFill/>
          <a:ln/>
        </p:spPr>
        <p:txBody>
          <a:bodyPr wrap="square" rtlCol="0" anchor="ctr"/>
          <a:lstStyle/>
          <a:p>
            <a:pPr marL="0" indent="0">
              <a:lnSpc>
                <a:spcPts val="1700"/>
              </a:lnSpc>
              <a:buNone/>
            </a:pPr>
            <a:r>
              <a:rPr lang="en-US" sz="1300" dirty="0">
                <a:solidFill>
                  <a:srgbClr val="5C7A7D"/>
                </a:solidFill>
                <a:latin typeface="Calibri" pitchFamily="34" charset="0"/>
                <a:ea typeface="Calibri" pitchFamily="34" charset="-122"/>
                <a:cs typeface="Calibri" pitchFamily="34" charset="-120"/>
              </a:rPr>
              <a:t>Blood Urea Nitrogen ÷ Serum Creatinine — a recognized nephrology marker used to distinguish pre-renal from intrinsic renal causes of dysfunction. Added explicitly rather than left for the model to infer implicitly from the two raw columns.</a:t>
            </a:r>
            <a:endParaRPr lang="en-US" sz="1300" dirty="0"/>
          </a:p>
        </p:txBody>
      </p:sp>
      <p:sp>
        <p:nvSpPr>
          <p:cNvPr id="8" name="Shape 6"/>
          <p:cNvSpPr/>
          <p:nvPr/>
        </p:nvSpPr>
        <p:spPr>
          <a:xfrm>
            <a:off x="868680" y="4572000"/>
            <a:ext cx="4480560" cy="0"/>
          </a:xfrm>
          <a:prstGeom prst="line">
            <a:avLst/>
          </a:prstGeom>
          <a:noFill/>
          <a:ln w="12700">
            <a:solidFill>
              <a:srgbClr val="D7E4E4"/>
            </a:solidFill>
            <a:prstDash val="solid"/>
          </a:ln>
        </p:spPr>
        <p:txBody>
          <a:bodyPr/>
          <a:lstStyle/>
          <a:p>
            <a:endParaRPr lang="en-EG"/>
          </a:p>
        </p:txBody>
      </p:sp>
      <p:sp>
        <p:nvSpPr>
          <p:cNvPr id="9" name="Text 7"/>
          <p:cNvSpPr/>
          <p:nvPr/>
        </p:nvSpPr>
        <p:spPr>
          <a:xfrm>
            <a:off x="868680" y="4754880"/>
            <a:ext cx="4572000" cy="411480"/>
          </a:xfrm>
          <a:prstGeom prst="rect">
            <a:avLst/>
          </a:prstGeom>
          <a:noFill/>
          <a:ln/>
        </p:spPr>
        <p:txBody>
          <a:bodyPr wrap="square" rtlCol="0" anchor="ctr"/>
          <a:lstStyle/>
          <a:p>
            <a:pPr marL="0" indent="0">
              <a:buNone/>
            </a:pPr>
            <a:r>
              <a:rPr lang="en-US" sz="1600" b="1" dirty="0">
                <a:solidFill>
                  <a:srgbClr val="028090"/>
                </a:solidFill>
                <a:latin typeface="Calibri" pitchFamily="34" charset="0"/>
                <a:ea typeface="Calibri" pitchFamily="34" charset="-122"/>
                <a:cs typeface="Calibri" pitchFamily="34" charset="-120"/>
              </a:rPr>
              <a:t>Feature selection — filter method</a:t>
            </a:r>
            <a:endParaRPr lang="en-US" sz="1600" dirty="0"/>
          </a:p>
        </p:txBody>
      </p:sp>
      <p:sp>
        <p:nvSpPr>
          <p:cNvPr id="10" name="Text 8"/>
          <p:cNvSpPr/>
          <p:nvPr/>
        </p:nvSpPr>
        <p:spPr>
          <a:xfrm>
            <a:off x="868680" y="5212080"/>
            <a:ext cx="4572000" cy="777240"/>
          </a:xfrm>
          <a:prstGeom prst="rect">
            <a:avLst/>
          </a:prstGeom>
          <a:noFill/>
          <a:ln/>
        </p:spPr>
        <p:txBody>
          <a:bodyPr wrap="square" rtlCol="0" anchor="ctr"/>
          <a:lstStyle/>
          <a:p>
            <a:pPr marL="0" indent="0">
              <a:lnSpc>
                <a:spcPts val="1700"/>
              </a:lnSpc>
              <a:buNone/>
            </a:pPr>
            <a:r>
              <a:rPr lang="en-US" sz="1300" dirty="0">
                <a:solidFill>
                  <a:srgbClr val="5C7A7D"/>
                </a:solidFill>
                <a:latin typeface="Calibri" pitchFamily="34" charset="0"/>
                <a:ea typeface="Calibri" pitchFamily="34" charset="-122"/>
                <a:cs typeface="Calibri" pitchFamily="34" charset="-120"/>
              </a:rPr>
              <a:t>SelectKBest with the ANOVA F-statistic scores each feature's individual relationship with the target, independent of any model — fast, model-agnostic first pass. Top 12 features kept.</a:t>
            </a:r>
            <a:endParaRPr lang="en-US" sz="1300" dirty="0"/>
          </a:p>
        </p:txBody>
      </p:sp>
      <p:sp>
        <p:nvSpPr>
          <p:cNvPr id="11" name="Text 9"/>
          <p:cNvSpPr/>
          <p:nvPr/>
        </p:nvSpPr>
        <p:spPr>
          <a:xfrm>
            <a:off x="6080760" y="1737360"/>
            <a:ext cx="5486400" cy="365760"/>
          </a:xfrm>
          <a:prstGeom prst="rect">
            <a:avLst/>
          </a:prstGeom>
          <a:noFill/>
          <a:ln/>
        </p:spPr>
        <p:txBody>
          <a:bodyPr wrap="square" rtlCol="0" anchor="ctr"/>
          <a:lstStyle/>
          <a:p>
            <a:pPr marL="0" indent="0">
              <a:buNone/>
            </a:pPr>
            <a:r>
              <a:rPr lang="en-US" sz="1600" b="1" dirty="0">
                <a:solidFill>
                  <a:srgbClr val="0B2B2E"/>
                </a:solidFill>
                <a:latin typeface="Calibri" pitchFamily="34" charset="0"/>
                <a:ea typeface="Calibri" pitchFamily="34" charset="-122"/>
                <a:cs typeface="Calibri" pitchFamily="34" charset="-120"/>
              </a:rPr>
              <a:t>Selected features (top 12)</a:t>
            </a:r>
            <a:endParaRPr lang="en-US" sz="1600" dirty="0"/>
          </a:p>
        </p:txBody>
      </p:sp>
      <p:sp>
        <p:nvSpPr>
          <p:cNvPr id="12" name="Shape 10"/>
          <p:cNvSpPr/>
          <p:nvPr/>
        </p:nvSpPr>
        <p:spPr>
          <a:xfrm>
            <a:off x="6080760" y="2240280"/>
            <a:ext cx="1005840" cy="438912"/>
          </a:xfrm>
          <a:prstGeom prst="roundRect">
            <a:avLst>
              <a:gd name="adj" fmla="val 50000"/>
            </a:avLst>
          </a:prstGeom>
          <a:solidFill>
            <a:srgbClr val="00A896"/>
          </a:solidFill>
          <a:ln/>
        </p:spPr>
        <p:txBody>
          <a:bodyPr/>
          <a:lstStyle/>
          <a:p>
            <a:endParaRPr lang="en-EG"/>
          </a:p>
        </p:txBody>
      </p:sp>
      <p:sp>
        <p:nvSpPr>
          <p:cNvPr id="13" name="Text 11"/>
          <p:cNvSpPr/>
          <p:nvPr/>
        </p:nvSpPr>
        <p:spPr>
          <a:xfrm>
            <a:off x="6080760" y="2240280"/>
            <a:ext cx="1005840" cy="438912"/>
          </a:xfrm>
          <a:prstGeom prst="rect">
            <a:avLst/>
          </a:prstGeom>
          <a:noFill/>
          <a:ln/>
        </p:spPr>
        <p:txBody>
          <a:bodyPr wrap="square" rtlCol="0" anchor="ctr"/>
          <a:lstStyle/>
          <a:p>
            <a:pPr marL="0" indent="0" algn="ctr">
              <a:buNone/>
            </a:pPr>
            <a:r>
              <a:rPr lang="en-US" sz="1250" b="1" dirty="0">
                <a:solidFill>
                  <a:srgbClr val="FFFFFF"/>
                </a:solidFill>
                <a:latin typeface="Courier New" pitchFamily="34" charset="0"/>
                <a:ea typeface="Courier New" pitchFamily="34" charset="-122"/>
                <a:cs typeface="Courier New" pitchFamily="34" charset="-120"/>
              </a:rPr>
              <a:t>sg</a:t>
            </a:r>
            <a:endParaRPr lang="en-US" sz="1250" dirty="0"/>
          </a:p>
        </p:txBody>
      </p:sp>
      <p:sp>
        <p:nvSpPr>
          <p:cNvPr id="14" name="Shape 12"/>
          <p:cNvSpPr/>
          <p:nvPr/>
        </p:nvSpPr>
        <p:spPr>
          <a:xfrm>
            <a:off x="7269480" y="2240280"/>
            <a:ext cx="1005840" cy="438912"/>
          </a:xfrm>
          <a:prstGeom prst="roundRect">
            <a:avLst>
              <a:gd name="adj" fmla="val 50000"/>
            </a:avLst>
          </a:prstGeom>
          <a:solidFill>
            <a:srgbClr val="00A896"/>
          </a:solidFill>
          <a:ln/>
        </p:spPr>
        <p:txBody>
          <a:bodyPr/>
          <a:lstStyle/>
          <a:p>
            <a:endParaRPr lang="en-EG"/>
          </a:p>
        </p:txBody>
      </p:sp>
      <p:sp>
        <p:nvSpPr>
          <p:cNvPr id="15" name="Text 13"/>
          <p:cNvSpPr/>
          <p:nvPr/>
        </p:nvSpPr>
        <p:spPr>
          <a:xfrm>
            <a:off x="7269480" y="2240280"/>
            <a:ext cx="1005840" cy="438912"/>
          </a:xfrm>
          <a:prstGeom prst="rect">
            <a:avLst/>
          </a:prstGeom>
          <a:noFill/>
          <a:ln/>
        </p:spPr>
        <p:txBody>
          <a:bodyPr wrap="square" rtlCol="0" anchor="ctr"/>
          <a:lstStyle/>
          <a:p>
            <a:pPr marL="0" indent="0" algn="ctr">
              <a:buNone/>
            </a:pPr>
            <a:r>
              <a:rPr lang="en-US" sz="1250" b="1" dirty="0">
                <a:solidFill>
                  <a:srgbClr val="FFFFFF"/>
                </a:solidFill>
                <a:latin typeface="Courier New" pitchFamily="34" charset="0"/>
                <a:ea typeface="Courier New" pitchFamily="34" charset="-122"/>
                <a:cs typeface="Courier New" pitchFamily="34" charset="-120"/>
              </a:rPr>
              <a:t>al</a:t>
            </a:r>
            <a:endParaRPr lang="en-US" sz="1250" dirty="0"/>
          </a:p>
        </p:txBody>
      </p:sp>
      <p:sp>
        <p:nvSpPr>
          <p:cNvPr id="16" name="Shape 14"/>
          <p:cNvSpPr/>
          <p:nvPr/>
        </p:nvSpPr>
        <p:spPr>
          <a:xfrm>
            <a:off x="8458200" y="2240280"/>
            <a:ext cx="1005840" cy="438912"/>
          </a:xfrm>
          <a:prstGeom prst="roundRect">
            <a:avLst>
              <a:gd name="adj" fmla="val 50000"/>
            </a:avLst>
          </a:prstGeom>
          <a:solidFill>
            <a:srgbClr val="00A896"/>
          </a:solidFill>
          <a:ln/>
        </p:spPr>
        <p:txBody>
          <a:bodyPr/>
          <a:lstStyle/>
          <a:p>
            <a:endParaRPr lang="en-EG"/>
          </a:p>
        </p:txBody>
      </p:sp>
      <p:sp>
        <p:nvSpPr>
          <p:cNvPr id="17" name="Text 15"/>
          <p:cNvSpPr/>
          <p:nvPr/>
        </p:nvSpPr>
        <p:spPr>
          <a:xfrm>
            <a:off x="8458200" y="2240280"/>
            <a:ext cx="1005840" cy="438912"/>
          </a:xfrm>
          <a:prstGeom prst="rect">
            <a:avLst/>
          </a:prstGeom>
          <a:noFill/>
          <a:ln/>
        </p:spPr>
        <p:txBody>
          <a:bodyPr wrap="square" rtlCol="0" anchor="ctr"/>
          <a:lstStyle/>
          <a:p>
            <a:pPr marL="0" indent="0" algn="ctr">
              <a:buNone/>
            </a:pPr>
            <a:r>
              <a:rPr lang="en-US" sz="1250" b="1" dirty="0">
                <a:solidFill>
                  <a:srgbClr val="FFFFFF"/>
                </a:solidFill>
                <a:latin typeface="Courier New" pitchFamily="34" charset="0"/>
                <a:ea typeface="Courier New" pitchFamily="34" charset="-122"/>
                <a:cs typeface="Courier New" pitchFamily="34" charset="-120"/>
              </a:rPr>
              <a:t>pc</a:t>
            </a:r>
            <a:endParaRPr lang="en-US" sz="1250" dirty="0"/>
          </a:p>
        </p:txBody>
      </p:sp>
      <p:sp>
        <p:nvSpPr>
          <p:cNvPr id="18" name="Shape 16"/>
          <p:cNvSpPr/>
          <p:nvPr/>
        </p:nvSpPr>
        <p:spPr>
          <a:xfrm>
            <a:off x="9646920" y="2240280"/>
            <a:ext cx="1005840" cy="438912"/>
          </a:xfrm>
          <a:prstGeom prst="roundRect">
            <a:avLst>
              <a:gd name="adj" fmla="val 50000"/>
            </a:avLst>
          </a:prstGeom>
          <a:solidFill>
            <a:srgbClr val="00A896"/>
          </a:solidFill>
          <a:ln/>
        </p:spPr>
        <p:txBody>
          <a:bodyPr/>
          <a:lstStyle/>
          <a:p>
            <a:endParaRPr lang="en-EG"/>
          </a:p>
        </p:txBody>
      </p:sp>
      <p:sp>
        <p:nvSpPr>
          <p:cNvPr id="19" name="Text 17"/>
          <p:cNvSpPr/>
          <p:nvPr/>
        </p:nvSpPr>
        <p:spPr>
          <a:xfrm>
            <a:off x="9646920" y="2240280"/>
            <a:ext cx="1005840" cy="438912"/>
          </a:xfrm>
          <a:prstGeom prst="rect">
            <a:avLst/>
          </a:prstGeom>
          <a:noFill/>
          <a:ln/>
        </p:spPr>
        <p:txBody>
          <a:bodyPr wrap="square" rtlCol="0" anchor="ctr"/>
          <a:lstStyle/>
          <a:p>
            <a:pPr marL="0" indent="0" algn="ctr">
              <a:buNone/>
            </a:pPr>
            <a:r>
              <a:rPr lang="en-US" sz="1250" b="1" dirty="0">
                <a:solidFill>
                  <a:srgbClr val="FFFFFF"/>
                </a:solidFill>
                <a:latin typeface="Courier New" pitchFamily="34" charset="0"/>
                <a:ea typeface="Courier New" pitchFamily="34" charset="-122"/>
                <a:cs typeface="Courier New" pitchFamily="34" charset="-120"/>
              </a:rPr>
              <a:t>bgr</a:t>
            </a:r>
            <a:endParaRPr lang="en-US" sz="1250" dirty="0"/>
          </a:p>
        </p:txBody>
      </p:sp>
      <p:sp>
        <p:nvSpPr>
          <p:cNvPr id="20" name="Shape 18"/>
          <p:cNvSpPr/>
          <p:nvPr/>
        </p:nvSpPr>
        <p:spPr>
          <a:xfrm>
            <a:off x="6080760" y="2807208"/>
            <a:ext cx="1133856" cy="438912"/>
          </a:xfrm>
          <a:prstGeom prst="roundRect">
            <a:avLst>
              <a:gd name="adj" fmla="val 50000"/>
            </a:avLst>
          </a:prstGeom>
          <a:solidFill>
            <a:srgbClr val="00A896"/>
          </a:solidFill>
          <a:ln/>
        </p:spPr>
        <p:txBody>
          <a:bodyPr/>
          <a:lstStyle/>
          <a:p>
            <a:endParaRPr lang="en-EG"/>
          </a:p>
        </p:txBody>
      </p:sp>
      <p:sp>
        <p:nvSpPr>
          <p:cNvPr id="21" name="Text 19"/>
          <p:cNvSpPr/>
          <p:nvPr/>
        </p:nvSpPr>
        <p:spPr>
          <a:xfrm>
            <a:off x="6080760" y="2807208"/>
            <a:ext cx="1133856" cy="438912"/>
          </a:xfrm>
          <a:prstGeom prst="rect">
            <a:avLst/>
          </a:prstGeom>
          <a:noFill/>
          <a:ln/>
        </p:spPr>
        <p:txBody>
          <a:bodyPr wrap="square" rtlCol="0" anchor="ctr"/>
          <a:lstStyle/>
          <a:p>
            <a:pPr marL="0" indent="0" algn="ctr">
              <a:buNone/>
            </a:pPr>
            <a:r>
              <a:rPr lang="en-US" sz="1250" b="1" dirty="0">
                <a:solidFill>
                  <a:srgbClr val="FFFFFF"/>
                </a:solidFill>
                <a:latin typeface="Courier New" pitchFamily="34" charset="0"/>
                <a:ea typeface="Courier New" pitchFamily="34" charset="-122"/>
                <a:cs typeface="Courier New" pitchFamily="34" charset="-120"/>
              </a:rPr>
              <a:t>hemo</a:t>
            </a:r>
            <a:endParaRPr lang="en-US" sz="1250" dirty="0"/>
          </a:p>
        </p:txBody>
      </p:sp>
      <p:sp>
        <p:nvSpPr>
          <p:cNvPr id="22" name="Shape 20"/>
          <p:cNvSpPr/>
          <p:nvPr/>
        </p:nvSpPr>
        <p:spPr>
          <a:xfrm>
            <a:off x="7397496" y="2807208"/>
            <a:ext cx="1005840" cy="438912"/>
          </a:xfrm>
          <a:prstGeom prst="roundRect">
            <a:avLst>
              <a:gd name="adj" fmla="val 50000"/>
            </a:avLst>
          </a:prstGeom>
          <a:solidFill>
            <a:srgbClr val="00A896"/>
          </a:solidFill>
          <a:ln/>
        </p:spPr>
        <p:txBody>
          <a:bodyPr/>
          <a:lstStyle/>
          <a:p>
            <a:endParaRPr lang="en-EG"/>
          </a:p>
        </p:txBody>
      </p:sp>
      <p:sp>
        <p:nvSpPr>
          <p:cNvPr id="23" name="Text 21"/>
          <p:cNvSpPr/>
          <p:nvPr/>
        </p:nvSpPr>
        <p:spPr>
          <a:xfrm>
            <a:off x="7397496" y="2807208"/>
            <a:ext cx="1005840" cy="438912"/>
          </a:xfrm>
          <a:prstGeom prst="rect">
            <a:avLst/>
          </a:prstGeom>
          <a:noFill/>
          <a:ln/>
        </p:spPr>
        <p:txBody>
          <a:bodyPr wrap="square" rtlCol="0" anchor="ctr"/>
          <a:lstStyle/>
          <a:p>
            <a:pPr marL="0" indent="0" algn="ctr">
              <a:buNone/>
            </a:pPr>
            <a:r>
              <a:rPr lang="en-US" sz="1250" b="1" dirty="0">
                <a:solidFill>
                  <a:srgbClr val="FFFFFF"/>
                </a:solidFill>
                <a:latin typeface="Courier New" pitchFamily="34" charset="0"/>
                <a:ea typeface="Courier New" pitchFamily="34" charset="-122"/>
                <a:cs typeface="Courier New" pitchFamily="34" charset="-120"/>
              </a:rPr>
              <a:t>pcv</a:t>
            </a:r>
            <a:endParaRPr lang="en-US" sz="1250" dirty="0"/>
          </a:p>
        </p:txBody>
      </p:sp>
      <p:sp>
        <p:nvSpPr>
          <p:cNvPr id="24" name="Shape 22"/>
          <p:cNvSpPr/>
          <p:nvPr/>
        </p:nvSpPr>
        <p:spPr>
          <a:xfrm>
            <a:off x="8586216" y="2807208"/>
            <a:ext cx="1005840" cy="438912"/>
          </a:xfrm>
          <a:prstGeom prst="roundRect">
            <a:avLst>
              <a:gd name="adj" fmla="val 50000"/>
            </a:avLst>
          </a:prstGeom>
          <a:solidFill>
            <a:srgbClr val="00A896"/>
          </a:solidFill>
          <a:ln/>
        </p:spPr>
        <p:txBody>
          <a:bodyPr/>
          <a:lstStyle/>
          <a:p>
            <a:endParaRPr lang="en-EG"/>
          </a:p>
        </p:txBody>
      </p:sp>
      <p:sp>
        <p:nvSpPr>
          <p:cNvPr id="25" name="Text 23"/>
          <p:cNvSpPr/>
          <p:nvPr/>
        </p:nvSpPr>
        <p:spPr>
          <a:xfrm>
            <a:off x="8586216" y="2807208"/>
            <a:ext cx="1005840" cy="438912"/>
          </a:xfrm>
          <a:prstGeom prst="rect">
            <a:avLst/>
          </a:prstGeom>
          <a:noFill/>
          <a:ln/>
        </p:spPr>
        <p:txBody>
          <a:bodyPr wrap="square" rtlCol="0" anchor="ctr"/>
          <a:lstStyle/>
          <a:p>
            <a:pPr marL="0" indent="0" algn="ctr">
              <a:buNone/>
            </a:pPr>
            <a:r>
              <a:rPr lang="en-US" sz="1250" b="1" dirty="0">
                <a:solidFill>
                  <a:srgbClr val="FFFFFF"/>
                </a:solidFill>
                <a:latin typeface="Courier New" pitchFamily="34" charset="0"/>
                <a:ea typeface="Courier New" pitchFamily="34" charset="-122"/>
                <a:cs typeface="Courier New" pitchFamily="34" charset="-120"/>
              </a:rPr>
              <a:t>rc</a:t>
            </a:r>
            <a:endParaRPr lang="en-US" sz="1250" dirty="0"/>
          </a:p>
        </p:txBody>
      </p:sp>
      <p:sp>
        <p:nvSpPr>
          <p:cNvPr id="26" name="Shape 24"/>
          <p:cNvSpPr/>
          <p:nvPr/>
        </p:nvSpPr>
        <p:spPr>
          <a:xfrm>
            <a:off x="9774936" y="2807208"/>
            <a:ext cx="1005840" cy="438912"/>
          </a:xfrm>
          <a:prstGeom prst="roundRect">
            <a:avLst>
              <a:gd name="adj" fmla="val 50000"/>
            </a:avLst>
          </a:prstGeom>
          <a:solidFill>
            <a:srgbClr val="028090"/>
          </a:solidFill>
          <a:ln/>
        </p:spPr>
        <p:txBody>
          <a:bodyPr/>
          <a:lstStyle/>
          <a:p>
            <a:endParaRPr lang="en-EG"/>
          </a:p>
        </p:txBody>
      </p:sp>
      <p:sp>
        <p:nvSpPr>
          <p:cNvPr id="27" name="Text 25"/>
          <p:cNvSpPr/>
          <p:nvPr/>
        </p:nvSpPr>
        <p:spPr>
          <a:xfrm>
            <a:off x="9774936" y="2807208"/>
            <a:ext cx="1005840" cy="438912"/>
          </a:xfrm>
          <a:prstGeom prst="rect">
            <a:avLst/>
          </a:prstGeom>
          <a:noFill/>
          <a:ln/>
        </p:spPr>
        <p:txBody>
          <a:bodyPr wrap="square" rtlCol="0" anchor="ctr"/>
          <a:lstStyle/>
          <a:p>
            <a:pPr marL="0" indent="0" algn="ctr">
              <a:buNone/>
            </a:pPr>
            <a:r>
              <a:rPr lang="en-US" sz="1250" b="1" dirty="0">
                <a:solidFill>
                  <a:srgbClr val="FFFFFF"/>
                </a:solidFill>
                <a:latin typeface="Courier New" pitchFamily="34" charset="0"/>
                <a:ea typeface="Courier New" pitchFamily="34" charset="-122"/>
                <a:cs typeface="Courier New" pitchFamily="34" charset="-120"/>
              </a:rPr>
              <a:t>htn</a:t>
            </a:r>
            <a:endParaRPr lang="en-US" sz="1250" dirty="0"/>
          </a:p>
        </p:txBody>
      </p:sp>
      <p:sp>
        <p:nvSpPr>
          <p:cNvPr id="28" name="Shape 26"/>
          <p:cNvSpPr/>
          <p:nvPr/>
        </p:nvSpPr>
        <p:spPr>
          <a:xfrm>
            <a:off x="6080760" y="3374136"/>
            <a:ext cx="1005840" cy="438912"/>
          </a:xfrm>
          <a:prstGeom prst="roundRect">
            <a:avLst>
              <a:gd name="adj" fmla="val 50000"/>
            </a:avLst>
          </a:prstGeom>
          <a:solidFill>
            <a:srgbClr val="028090"/>
          </a:solidFill>
          <a:ln/>
        </p:spPr>
        <p:txBody>
          <a:bodyPr/>
          <a:lstStyle/>
          <a:p>
            <a:endParaRPr lang="en-EG"/>
          </a:p>
        </p:txBody>
      </p:sp>
      <p:sp>
        <p:nvSpPr>
          <p:cNvPr id="29" name="Text 27"/>
          <p:cNvSpPr/>
          <p:nvPr/>
        </p:nvSpPr>
        <p:spPr>
          <a:xfrm>
            <a:off x="6080760" y="3374136"/>
            <a:ext cx="1005840" cy="438912"/>
          </a:xfrm>
          <a:prstGeom prst="rect">
            <a:avLst/>
          </a:prstGeom>
          <a:noFill/>
          <a:ln/>
        </p:spPr>
        <p:txBody>
          <a:bodyPr wrap="square" rtlCol="0" anchor="ctr"/>
          <a:lstStyle/>
          <a:p>
            <a:pPr marL="0" indent="0" algn="ctr">
              <a:buNone/>
            </a:pPr>
            <a:r>
              <a:rPr lang="en-US" sz="1250" b="1" dirty="0">
                <a:solidFill>
                  <a:srgbClr val="FFFFFF"/>
                </a:solidFill>
                <a:latin typeface="Courier New" pitchFamily="34" charset="0"/>
                <a:ea typeface="Courier New" pitchFamily="34" charset="-122"/>
                <a:cs typeface="Courier New" pitchFamily="34" charset="-120"/>
              </a:rPr>
              <a:t>dm</a:t>
            </a:r>
            <a:endParaRPr lang="en-US" sz="1250" dirty="0"/>
          </a:p>
        </p:txBody>
      </p:sp>
      <p:sp>
        <p:nvSpPr>
          <p:cNvPr id="30" name="Shape 28"/>
          <p:cNvSpPr/>
          <p:nvPr/>
        </p:nvSpPr>
        <p:spPr>
          <a:xfrm>
            <a:off x="7269480" y="3374136"/>
            <a:ext cx="1280160" cy="438912"/>
          </a:xfrm>
          <a:prstGeom prst="roundRect">
            <a:avLst>
              <a:gd name="adj" fmla="val 50000"/>
            </a:avLst>
          </a:prstGeom>
          <a:solidFill>
            <a:srgbClr val="028090"/>
          </a:solidFill>
          <a:ln/>
        </p:spPr>
        <p:txBody>
          <a:bodyPr/>
          <a:lstStyle/>
          <a:p>
            <a:endParaRPr lang="en-EG"/>
          </a:p>
        </p:txBody>
      </p:sp>
      <p:sp>
        <p:nvSpPr>
          <p:cNvPr id="31" name="Text 29"/>
          <p:cNvSpPr/>
          <p:nvPr/>
        </p:nvSpPr>
        <p:spPr>
          <a:xfrm>
            <a:off x="7269480" y="3374136"/>
            <a:ext cx="1280160" cy="438912"/>
          </a:xfrm>
          <a:prstGeom prst="rect">
            <a:avLst/>
          </a:prstGeom>
          <a:noFill/>
          <a:ln/>
        </p:spPr>
        <p:txBody>
          <a:bodyPr wrap="square" rtlCol="0" anchor="ctr"/>
          <a:lstStyle/>
          <a:p>
            <a:pPr marL="0" indent="0" algn="ctr">
              <a:buNone/>
            </a:pPr>
            <a:r>
              <a:rPr lang="en-US" sz="1250" b="1" dirty="0">
                <a:solidFill>
                  <a:srgbClr val="FFFFFF"/>
                </a:solidFill>
                <a:latin typeface="Courier New" pitchFamily="34" charset="0"/>
                <a:ea typeface="Courier New" pitchFamily="34" charset="-122"/>
                <a:cs typeface="Courier New" pitchFamily="34" charset="-120"/>
              </a:rPr>
              <a:t>appet</a:t>
            </a:r>
            <a:endParaRPr lang="en-US" sz="1250" dirty="0"/>
          </a:p>
        </p:txBody>
      </p:sp>
      <p:sp>
        <p:nvSpPr>
          <p:cNvPr id="32" name="Shape 30"/>
          <p:cNvSpPr/>
          <p:nvPr/>
        </p:nvSpPr>
        <p:spPr>
          <a:xfrm>
            <a:off x="8732520" y="3374136"/>
            <a:ext cx="1005840" cy="438912"/>
          </a:xfrm>
          <a:prstGeom prst="roundRect">
            <a:avLst>
              <a:gd name="adj" fmla="val 50000"/>
            </a:avLst>
          </a:prstGeom>
          <a:solidFill>
            <a:srgbClr val="028090"/>
          </a:solidFill>
          <a:ln/>
        </p:spPr>
        <p:txBody>
          <a:bodyPr/>
          <a:lstStyle/>
          <a:p>
            <a:endParaRPr lang="en-EG"/>
          </a:p>
        </p:txBody>
      </p:sp>
      <p:sp>
        <p:nvSpPr>
          <p:cNvPr id="33" name="Text 31"/>
          <p:cNvSpPr/>
          <p:nvPr/>
        </p:nvSpPr>
        <p:spPr>
          <a:xfrm>
            <a:off x="8732520" y="3374136"/>
            <a:ext cx="1005840" cy="438912"/>
          </a:xfrm>
          <a:prstGeom prst="rect">
            <a:avLst/>
          </a:prstGeom>
          <a:noFill/>
          <a:ln/>
        </p:spPr>
        <p:txBody>
          <a:bodyPr wrap="square" rtlCol="0" anchor="ctr"/>
          <a:lstStyle/>
          <a:p>
            <a:pPr marL="0" indent="0" algn="ctr">
              <a:buNone/>
            </a:pPr>
            <a:r>
              <a:rPr lang="en-US" sz="1250" b="1" dirty="0">
                <a:solidFill>
                  <a:srgbClr val="FFFFFF"/>
                </a:solidFill>
                <a:latin typeface="Courier New" pitchFamily="34" charset="0"/>
                <a:ea typeface="Courier New" pitchFamily="34" charset="-122"/>
                <a:cs typeface="Courier New" pitchFamily="34" charset="-120"/>
              </a:rPr>
              <a:t>pe</a:t>
            </a:r>
            <a:endParaRPr lang="en-US" sz="1250" dirty="0"/>
          </a:p>
        </p:txBody>
      </p:sp>
      <p:sp>
        <p:nvSpPr>
          <p:cNvPr id="34" name="Shape 32"/>
          <p:cNvSpPr/>
          <p:nvPr/>
        </p:nvSpPr>
        <p:spPr>
          <a:xfrm>
            <a:off x="6080760" y="3941064"/>
            <a:ext cx="3474720" cy="438912"/>
          </a:xfrm>
          <a:prstGeom prst="roundRect">
            <a:avLst>
              <a:gd name="adj" fmla="val 50000"/>
            </a:avLst>
          </a:prstGeom>
          <a:solidFill>
            <a:srgbClr val="028090"/>
          </a:solidFill>
          <a:ln/>
        </p:spPr>
        <p:txBody>
          <a:bodyPr/>
          <a:lstStyle/>
          <a:p>
            <a:endParaRPr lang="en-EG"/>
          </a:p>
        </p:txBody>
      </p:sp>
      <p:sp>
        <p:nvSpPr>
          <p:cNvPr id="35" name="Text 33"/>
          <p:cNvSpPr/>
          <p:nvPr/>
        </p:nvSpPr>
        <p:spPr>
          <a:xfrm>
            <a:off x="6080760" y="3941064"/>
            <a:ext cx="3474720" cy="438912"/>
          </a:xfrm>
          <a:prstGeom prst="rect">
            <a:avLst/>
          </a:prstGeom>
          <a:noFill/>
          <a:ln/>
        </p:spPr>
        <p:txBody>
          <a:bodyPr wrap="square" rtlCol="0" anchor="ctr"/>
          <a:lstStyle/>
          <a:p>
            <a:pPr marL="0" indent="0" algn="ctr">
              <a:buNone/>
            </a:pPr>
            <a:r>
              <a:rPr lang="en-US" sz="1250" b="1" dirty="0">
                <a:solidFill>
                  <a:srgbClr val="FFFFFF"/>
                </a:solidFill>
                <a:latin typeface="Courier New" pitchFamily="34" charset="0"/>
                <a:ea typeface="Courier New" pitchFamily="34" charset="-122"/>
                <a:cs typeface="Courier New" pitchFamily="34" charset="-120"/>
              </a:rPr>
              <a:t>bun_creatinine_ratio</a:t>
            </a:r>
            <a:endParaRPr lang="en-US" sz="1250" dirty="0"/>
          </a:p>
        </p:txBody>
      </p:sp>
      <p:sp>
        <p:nvSpPr>
          <p:cNvPr id="36" name="Text 34"/>
          <p:cNvSpPr/>
          <p:nvPr/>
        </p:nvSpPr>
        <p:spPr>
          <a:xfrm>
            <a:off x="11274552" y="6355080"/>
            <a:ext cx="548640" cy="320040"/>
          </a:xfrm>
          <a:prstGeom prst="rect">
            <a:avLst/>
          </a:prstGeom>
          <a:noFill/>
          <a:ln/>
        </p:spPr>
        <p:txBody>
          <a:bodyPr wrap="square" rtlCol="0" anchor="ctr"/>
          <a:lstStyle/>
          <a:p>
            <a:pPr marL="0" indent="0" algn="r">
              <a:buNone/>
            </a:pPr>
            <a:r>
              <a:rPr lang="en-US" sz="1100" dirty="0">
                <a:solidFill>
                  <a:srgbClr val="5C7A7D"/>
                </a:solidFill>
                <a:latin typeface="Calibri" pitchFamily="34" charset="0"/>
                <a:ea typeface="Calibri" pitchFamily="34" charset="-122"/>
                <a:cs typeface="Calibri"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marL="0" indent="0">
              <a:buNone/>
            </a:pPr>
            <a:r>
              <a:rPr lang="en-US" sz="1300" b="1" kern="0" spc="200" dirty="0">
                <a:solidFill>
                  <a:srgbClr val="00A896"/>
                </a:solidFill>
                <a:latin typeface="Calibri" pitchFamily="34" charset="0"/>
                <a:ea typeface="Calibri" pitchFamily="34" charset="-122"/>
                <a:cs typeface="Calibri" pitchFamily="34" charset="-120"/>
              </a:rPr>
              <a:t>06 · MODELING</a:t>
            </a:r>
            <a:endParaRPr lang="en-US" sz="1300" dirty="0"/>
          </a:p>
        </p:txBody>
      </p:sp>
      <p:sp>
        <p:nvSpPr>
          <p:cNvPr id="3" name="Text 1"/>
          <p:cNvSpPr/>
          <p:nvPr/>
        </p:nvSpPr>
        <p:spPr>
          <a:xfrm>
            <a:off x="548640" y="777240"/>
            <a:ext cx="10058400" cy="640080"/>
          </a:xfrm>
          <a:prstGeom prst="rect">
            <a:avLst/>
          </a:prstGeom>
          <a:noFill/>
          <a:ln/>
        </p:spPr>
        <p:txBody>
          <a:bodyPr wrap="square" rtlCol="0" anchor="ctr"/>
          <a:lstStyle/>
          <a:p>
            <a:pPr marL="0" indent="0">
              <a:buNone/>
            </a:pPr>
            <a:r>
              <a:rPr lang="en-US" sz="3200" b="1" dirty="0">
                <a:solidFill>
                  <a:srgbClr val="0B2B2E"/>
                </a:solidFill>
                <a:latin typeface="Cambria" pitchFamily="34" charset="0"/>
                <a:ea typeface="Cambria" pitchFamily="34" charset="-122"/>
                <a:cs typeface="Cambria" pitchFamily="34" charset="-120"/>
              </a:rPr>
              <a:t>Three algorithms, tuned and validated</a:t>
            </a:r>
            <a:endParaRPr lang="en-US" sz="3200" dirty="0"/>
          </a:p>
        </p:txBody>
      </p:sp>
      <p:sp>
        <p:nvSpPr>
          <p:cNvPr id="4" name="Shape 2"/>
          <p:cNvSpPr/>
          <p:nvPr/>
        </p:nvSpPr>
        <p:spPr>
          <a:xfrm>
            <a:off x="548640" y="1737360"/>
            <a:ext cx="3453384" cy="2514600"/>
          </a:xfrm>
          <a:prstGeom prst="roundRect">
            <a:avLst>
              <a:gd name="adj" fmla="val 4364"/>
            </a:avLst>
          </a:prstGeom>
          <a:solidFill>
            <a:srgbClr val="013A40"/>
          </a:solidFill>
          <a:ln/>
        </p:spPr>
        <p:txBody>
          <a:bodyPr/>
          <a:lstStyle/>
          <a:p>
            <a:endParaRPr lang="en-EG"/>
          </a:p>
        </p:txBody>
      </p:sp>
      <p:sp>
        <p:nvSpPr>
          <p:cNvPr id="5" name="Text 3"/>
          <p:cNvSpPr/>
          <p:nvPr/>
        </p:nvSpPr>
        <p:spPr>
          <a:xfrm>
            <a:off x="822960" y="2011680"/>
            <a:ext cx="2904744" cy="502920"/>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Logistic Regression</a:t>
            </a:r>
            <a:endParaRPr lang="en-US" sz="1700" dirty="0"/>
          </a:p>
        </p:txBody>
      </p:sp>
      <p:sp>
        <p:nvSpPr>
          <p:cNvPr id="6" name="Text 4"/>
          <p:cNvSpPr/>
          <p:nvPr/>
        </p:nvSpPr>
        <p:spPr>
          <a:xfrm>
            <a:off x="822960" y="2560320"/>
            <a:ext cx="2904744" cy="914400"/>
          </a:xfrm>
          <a:prstGeom prst="rect">
            <a:avLst/>
          </a:prstGeom>
          <a:noFill/>
          <a:ln/>
        </p:spPr>
        <p:txBody>
          <a:bodyPr wrap="square" rtlCol="0" anchor="ctr"/>
          <a:lstStyle/>
          <a:p>
            <a:pPr marL="0" indent="0">
              <a:lnSpc>
                <a:spcPts val="1600"/>
              </a:lnSpc>
              <a:buNone/>
            </a:pPr>
            <a:r>
              <a:rPr lang="en-US" sz="1250" dirty="0">
                <a:solidFill>
                  <a:srgbClr val="BFE3E0"/>
                </a:solidFill>
                <a:latin typeface="Calibri" pitchFamily="34" charset="0"/>
                <a:ea typeface="Calibri" pitchFamily="34" charset="-122"/>
                <a:cs typeface="Calibri" pitchFamily="34" charset="-120"/>
              </a:rPr>
              <a:t>Simple, interpretable linear baseline</a:t>
            </a:r>
            <a:endParaRPr lang="en-US" sz="1250" dirty="0"/>
          </a:p>
        </p:txBody>
      </p:sp>
      <p:sp>
        <p:nvSpPr>
          <p:cNvPr id="7" name="Shape 5"/>
          <p:cNvSpPr/>
          <p:nvPr/>
        </p:nvSpPr>
        <p:spPr>
          <a:xfrm>
            <a:off x="822960" y="3520440"/>
            <a:ext cx="2904744" cy="0"/>
          </a:xfrm>
          <a:prstGeom prst="line">
            <a:avLst/>
          </a:prstGeom>
          <a:noFill/>
          <a:ln w="12700">
            <a:solidFill>
              <a:srgbClr val="1B5C61"/>
            </a:solidFill>
            <a:prstDash val="solid"/>
          </a:ln>
        </p:spPr>
        <p:txBody>
          <a:bodyPr/>
          <a:lstStyle/>
          <a:p>
            <a:endParaRPr lang="en-EG"/>
          </a:p>
        </p:txBody>
      </p:sp>
      <p:sp>
        <p:nvSpPr>
          <p:cNvPr id="8" name="Text 6"/>
          <p:cNvSpPr/>
          <p:nvPr/>
        </p:nvSpPr>
        <p:spPr>
          <a:xfrm>
            <a:off x="822960" y="3657600"/>
            <a:ext cx="2904744" cy="457200"/>
          </a:xfrm>
          <a:prstGeom prst="rect">
            <a:avLst/>
          </a:prstGeom>
          <a:noFill/>
          <a:ln/>
        </p:spPr>
        <p:txBody>
          <a:bodyPr wrap="square" rtlCol="0" anchor="ctr"/>
          <a:lstStyle/>
          <a:p>
            <a:pPr marL="0" indent="0">
              <a:buNone/>
            </a:pPr>
            <a:r>
              <a:rPr lang="en-US" sz="1150" dirty="0">
                <a:solidFill>
                  <a:srgbClr val="02C39A"/>
                </a:solidFill>
                <a:latin typeface="Courier New" pitchFamily="34" charset="0"/>
                <a:ea typeface="Courier New" pitchFamily="34" charset="-122"/>
                <a:cs typeface="Courier New" pitchFamily="34" charset="-120"/>
              </a:rPr>
              <a:t>Tuned: C (regularization strength)</a:t>
            </a:r>
            <a:endParaRPr lang="en-US" sz="1150" dirty="0"/>
          </a:p>
        </p:txBody>
      </p:sp>
      <p:sp>
        <p:nvSpPr>
          <p:cNvPr id="9" name="Shape 7"/>
          <p:cNvSpPr/>
          <p:nvPr/>
        </p:nvSpPr>
        <p:spPr>
          <a:xfrm>
            <a:off x="4367784" y="1737360"/>
            <a:ext cx="3453384" cy="2514600"/>
          </a:xfrm>
          <a:prstGeom prst="roundRect">
            <a:avLst>
              <a:gd name="adj" fmla="val 4364"/>
            </a:avLst>
          </a:prstGeom>
          <a:solidFill>
            <a:srgbClr val="013A40"/>
          </a:solidFill>
          <a:ln/>
        </p:spPr>
        <p:txBody>
          <a:bodyPr/>
          <a:lstStyle/>
          <a:p>
            <a:endParaRPr lang="en-EG"/>
          </a:p>
        </p:txBody>
      </p:sp>
      <p:sp>
        <p:nvSpPr>
          <p:cNvPr id="10" name="Text 8"/>
          <p:cNvSpPr/>
          <p:nvPr/>
        </p:nvSpPr>
        <p:spPr>
          <a:xfrm>
            <a:off x="4642104" y="2011680"/>
            <a:ext cx="2904744" cy="502920"/>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Random Forest</a:t>
            </a:r>
            <a:endParaRPr lang="en-US" sz="1700" dirty="0"/>
          </a:p>
        </p:txBody>
      </p:sp>
      <p:sp>
        <p:nvSpPr>
          <p:cNvPr id="11" name="Text 9"/>
          <p:cNvSpPr/>
          <p:nvPr/>
        </p:nvSpPr>
        <p:spPr>
          <a:xfrm>
            <a:off x="4642104" y="2560320"/>
            <a:ext cx="2904744" cy="914400"/>
          </a:xfrm>
          <a:prstGeom prst="rect">
            <a:avLst/>
          </a:prstGeom>
          <a:noFill/>
          <a:ln/>
        </p:spPr>
        <p:txBody>
          <a:bodyPr wrap="square" rtlCol="0" anchor="ctr"/>
          <a:lstStyle/>
          <a:p>
            <a:pPr marL="0" indent="0">
              <a:lnSpc>
                <a:spcPts val="1600"/>
              </a:lnSpc>
              <a:buNone/>
            </a:pPr>
            <a:r>
              <a:rPr lang="en-US" sz="1250" dirty="0">
                <a:solidFill>
                  <a:srgbClr val="BFE3E0"/>
                </a:solidFill>
                <a:latin typeface="Calibri" pitchFamily="34" charset="0"/>
                <a:ea typeface="Calibri" pitchFamily="34" charset="-122"/>
                <a:cs typeface="Calibri" pitchFamily="34" charset="-120"/>
              </a:rPr>
              <a:t>Bagged tree ensemble — captures non-linear interactions</a:t>
            </a:r>
            <a:endParaRPr lang="en-US" sz="1250" dirty="0"/>
          </a:p>
        </p:txBody>
      </p:sp>
      <p:sp>
        <p:nvSpPr>
          <p:cNvPr id="12" name="Shape 10"/>
          <p:cNvSpPr/>
          <p:nvPr/>
        </p:nvSpPr>
        <p:spPr>
          <a:xfrm>
            <a:off x="4642104" y="3520440"/>
            <a:ext cx="2904744" cy="0"/>
          </a:xfrm>
          <a:prstGeom prst="line">
            <a:avLst/>
          </a:prstGeom>
          <a:noFill/>
          <a:ln w="12700">
            <a:solidFill>
              <a:srgbClr val="1B5C61"/>
            </a:solidFill>
            <a:prstDash val="solid"/>
          </a:ln>
        </p:spPr>
        <p:txBody>
          <a:bodyPr/>
          <a:lstStyle/>
          <a:p>
            <a:endParaRPr lang="en-EG"/>
          </a:p>
        </p:txBody>
      </p:sp>
      <p:sp>
        <p:nvSpPr>
          <p:cNvPr id="13" name="Text 11"/>
          <p:cNvSpPr/>
          <p:nvPr/>
        </p:nvSpPr>
        <p:spPr>
          <a:xfrm>
            <a:off x="4642104" y="3657600"/>
            <a:ext cx="2904744" cy="457200"/>
          </a:xfrm>
          <a:prstGeom prst="rect">
            <a:avLst/>
          </a:prstGeom>
          <a:noFill/>
          <a:ln/>
        </p:spPr>
        <p:txBody>
          <a:bodyPr wrap="square" rtlCol="0" anchor="ctr"/>
          <a:lstStyle/>
          <a:p>
            <a:pPr marL="0" indent="0">
              <a:buNone/>
            </a:pPr>
            <a:r>
              <a:rPr lang="en-US" sz="1150" dirty="0">
                <a:solidFill>
                  <a:srgbClr val="02C39A"/>
                </a:solidFill>
                <a:latin typeface="Courier New" pitchFamily="34" charset="0"/>
                <a:ea typeface="Courier New" pitchFamily="34" charset="-122"/>
                <a:cs typeface="Courier New" pitchFamily="34" charset="-120"/>
              </a:rPr>
              <a:t>Tuned: n_estimators, max_depth</a:t>
            </a:r>
            <a:endParaRPr lang="en-US" sz="1150" dirty="0"/>
          </a:p>
        </p:txBody>
      </p:sp>
      <p:sp>
        <p:nvSpPr>
          <p:cNvPr id="14" name="Shape 12"/>
          <p:cNvSpPr/>
          <p:nvPr/>
        </p:nvSpPr>
        <p:spPr>
          <a:xfrm>
            <a:off x="8186928" y="1737360"/>
            <a:ext cx="3453384" cy="2514600"/>
          </a:xfrm>
          <a:prstGeom prst="roundRect">
            <a:avLst>
              <a:gd name="adj" fmla="val 4364"/>
            </a:avLst>
          </a:prstGeom>
          <a:solidFill>
            <a:srgbClr val="013A40"/>
          </a:solidFill>
          <a:ln/>
        </p:spPr>
        <p:txBody>
          <a:bodyPr/>
          <a:lstStyle/>
          <a:p>
            <a:endParaRPr lang="en-EG"/>
          </a:p>
        </p:txBody>
      </p:sp>
      <p:sp>
        <p:nvSpPr>
          <p:cNvPr id="15" name="Text 13"/>
          <p:cNvSpPr/>
          <p:nvPr/>
        </p:nvSpPr>
        <p:spPr>
          <a:xfrm>
            <a:off x="8461248" y="2011680"/>
            <a:ext cx="2904744" cy="502920"/>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SVM</a:t>
            </a:r>
            <a:endParaRPr lang="en-US" sz="1700" dirty="0"/>
          </a:p>
        </p:txBody>
      </p:sp>
      <p:sp>
        <p:nvSpPr>
          <p:cNvPr id="16" name="Text 14"/>
          <p:cNvSpPr/>
          <p:nvPr/>
        </p:nvSpPr>
        <p:spPr>
          <a:xfrm>
            <a:off x="8461248" y="2560320"/>
            <a:ext cx="2904744" cy="914400"/>
          </a:xfrm>
          <a:prstGeom prst="rect">
            <a:avLst/>
          </a:prstGeom>
          <a:noFill/>
          <a:ln/>
        </p:spPr>
        <p:txBody>
          <a:bodyPr wrap="square" rtlCol="0" anchor="ctr"/>
          <a:lstStyle/>
          <a:p>
            <a:pPr marL="0" indent="0">
              <a:lnSpc>
                <a:spcPts val="1600"/>
              </a:lnSpc>
              <a:buNone/>
            </a:pPr>
            <a:r>
              <a:rPr lang="en-US" sz="1250" dirty="0">
                <a:solidFill>
                  <a:srgbClr val="BFE3E0"/>
                </a:solidFill>
                <a:latin typeface="Calibri" pitchFamily="34" charset="0"/>
                <a:ea typeface="Calibri" pitchFamily="34" charset="-122"/>
                <a:cs typeface="Calibri" pitchFamily="34" charset="-120"/>
              </a:rPr>
              <a:t>Margin-based classifier, linear or kernelized</a:t>
            </a:r>
            <a:endParaRPr lang="en-US" sz="1250" dirty="0"/>
          </a:p>
        </p:txBody>
      </p:sp>
      <p:sp>
        <p:nvSpPr>
          <p:cNvPr id="17" name="Shape 15"/>
          <p:cNvSpPr/>
          <p:nvPr/>
        </p:nvSpPr>
        <p:spPr>
          <a:xfrm>
            <a:off x="8461248" y="3520440"/>
            <a:ext cx="2904744" cy="0"/>
          </a:xfrm>
          <a:prstGeom prst="line">
            <a:avLst/>
          </a:prstGeom>
          <a:noFill/>
          <a:ln w="12700">
            <a:solidFill>
              <a:srgbClr val="1B5C61"/>
            </a:solidFill>
            <a:prstDash val="solid"/>
          </a:ln>
        </p:spPr>
        <p:txBody>
          <a:bodyPr/>
          <a:lstStyle/>
          <a:p>
            <a:endParaRPr lang="en-EG"/>
          </a:p>
        </p:txBody>
      </p:sp>
      <p:sp>
        <p:nvSpPr>
          <p:cNvPr id="18" name="Text 16"/>
          <p:cNvSpPr/>
          <p:nvPr/>
        </p:nvSpPr>
        <p:spPr>
          <a:xfrm>
            <a:off x="8461248" y="3657600"/>
            <a:ext cx="2904744" cy="457200"/>
          </a:xfrm>
          <a:prstGeom prst="rect">
            <a:avLst/>
          </a:prstGeom>
          <a:noFill/>
          <a:ln/>
        </p:spPr>
        <p:txBody>
          <a:bodyPr wrap="square" rtlCol="0" anchor="ctr"/>
          <a:lstStyle/>
          <a:p>
            <a:pPr marL="0" indent="0">
              <a:buNone/>
            </a:pPr>
            <a:r>
              <a:rPr lang="en-US" sz="1150" dirty="0">
                <a:solidFill>
                  <a:srgbClr val="02C39A"/>
                </a:solidFill>
                <a:latin typeface="Courier New" pitchFamily="34" charset="0"/>
                <a:ea typeface="Courier New" pitchFamily="34" charset="-122"/>
                <a:cs typeface="Courier New" pitchFamily="34" charset="-120"/>
              </a:rPr>
              <a:t>Tuned: C, kernel</a:t>
            </a:r>
            <a:endParaRPr lang="en-US" sz="1150" dirty="0"/>
          </a:p>
        </p:txBody>
      </p:sp>
      <p:sp>
        <p:nvSpPr>
          <p:cNvPr id="19" name="Text 17"/>
          <p:cNvSpPr/>
          <p:nvPr/>
        </p:nvSpPr>
        <p:spPr>
          <a:xfrm>
            <a:off x="548640" y="4526280"/>
            <a:ext cx="10515600" cy="365760"/>
          </a:xfrm>
          <a:prstGeom prst="rect">
            <a:avLst/>
          </a:prstGeom>
          <a:noFill/>
          <a:ln/>
        </p:spPr>
        <p:txBody>
          <a:bodyPr wrap="square" rtlCol="0" anchor="ctr"/>
          <a:lstStyle/>
          <a:p>
            <a:pPr marL="0" indent="0">
              <a:buNone/>
            </a:pPr>
            <a:r>
              <a:rPr lang="en-US" sz="1400" b="1" dirty="0">
                <a:solidFill>
                  <a:srgbClr val="028090"/>
                </a:solidFill>
                <a:latin typeface="Calibri" pitchFamily="34" charset="0"/>
                <a:ea typeface="Calibri" pitchFamily="34" charset="-122"/>
                <a:cs typeface="Calibri" pitchFamily="34" charset="-120"/>
              </a:rPr>
              <a:t>Tuning method: GridSearchCV, 5-fold cross-validation, optimizing F1-score</a:t>
            </a:r>
            <a:endParaRPr lang="en-US" sz="1400" dirty="0"/>
          </a:p>
        </p:txBody>
      </p:sp>
      <p:sp>
        <p:nvSpPr>
          <p:cNvPr id="20" name="Text 18"/>
          <p:cNvSpPr/>
          <p:nvPr/>
        </p:nvSpPr>
        <p:spPr>
          <a:xfrm>
            <a:off x="548640" y="4983480"/>
            <a:ext cx="10698480" cy="1600200"/>
          </a:xfrm>
          <a:prstGeom prst="rect">
            <a:avLst/>
          </a:prstGeom>
          <a:noFill/>
          <a:ln/>
        </p:spPr>
        <p:txBody>
          <a:bodyPr wrap="square" rtlCol="0" anchor="ctr"/>
          <a:lstStyle/>
          <a:p>
            <a:pPr marL="0" indent="0">
              <a:lnSpc>
                <a:spcPts val="1700"/>
              </a:lnSpc>
              <a:buNone/>
            </a:pPr>
            <a:r>
              <a:rPr lang="en-US" sz="1300" dirty="0">
                <a:solidFill>
                  <a:srgbClr val="5C7A7D"/>
                </a:solidFill>
                <a:latin typeface="Calibri" pitchFamily="34" charset="0"/>
                <a:ea typeface="Calibri" pitchFamily="34" charset="-122"/>
                <a:cs typeface="Calibri" pitchFamily="34" charset="-120"/>
              </a:rPr>
              <a:t>Why tuning matters: hyperparameters aren't learned from data — poor choices cause overfitting (memorizing noise) or underfitting (missing real patterns). Grid search tries every combination and keeps the one with the best cross-validated score, not a single lucky split.</a:t>
            </a:r>
            <a:endParaRPr lang="en-US" sz="1300" dirty="0"/>
          </a:p>
          <a:p>
            <a:pPr marL="0" indent="0">
              <a:lnSpc>
                <a:spcPts val="1700"/>
              </a:lnSpc>
              <a:buNone/>
            </a:pPr>
            <a:endParaRPr lang="en-US" sz="1300" dirty="0"/>
          </a:p>
          <a:p>
            <a:pPr marL="0" indent="0">
              <a:lnSpc>
                <a:spcPts val="1700"/>
              </a:lnSpc>
              <a:buNone/>
            </a:pPr>
            <a:r>
              <a:rPr lang="en-US" sz="1300" dirty="0">
                <a:solidFill>
                  <a:srgbClr val="5C7A7D"/>
                </a:solidFill>
                <a:latin typeface="Calibri" pitchFamily="34" charset="0"/>
                <a:ea typeface="Calibri" pitchFamily="34" charset="-122"/>
                <a:cs typeface="Calibri" pitchFamily="34" charset="-120"/>
              </a:rPr>
              <a:t>Why validation matters: 5-fold CV picks robust hyperparameters, and a held-out 20% test set (stratified, untouched by training/tuning) gives an unbiased final comparison.</a:t>
            </a:r>
            <a:endParaRPr lang="en-US" sz="1300" dirty="0"/>
          </a:p>
        </p:txBody>
      </p:sp>
      <p:sp>
        <p:nvSpPr>
          <p:cNvPr id="21" name="Text 19"/>
          <p:cNvSpPr/>
          <p:nvPr/>
        </p:nvSpPr>
        <p:spPr>
          <a:xfrm>
            <a:off x="11274552" y="6355080"/>
            <a:ext cx="548640" cy="320040"/>
          </a:xfrm>
          <a:prstGeom prst="rect">
            <a:avLst/>
          </a:prstGeom>
          <a:noFill/>
          <a:ln/>
        </p:spPr>
        <p:txBody>
          <a:bodyPr wrap="square" rtlCol="0" anchor="ctr"/>
          <a:lstStyle/>
          <a:p>
            <a:pPr marL="0" indent="0" algn="r">
              <a:buNone/>
            </a:pPr>
            <a:r>
              <a:rPr lang="en-US" sz="1100" dirty="0">
                <a:solidFill>
                  <a:srgbClr val="5C7A7D"/>
                </a:solidFill>
                <a:latin typeface="Calibri" pitchFamily="34" charset="0"/>
                <a:ea typeface="Calibri" pitchFamily="34" charset="-122"/>
                <a:cs typeface="Calibri"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marL="0" indent="0">
              <a:buNone/>
            </a:pPr>
            <a:r>
              <a:rPr lang="en-US" sz="1300" b="1" kern="0" spc="200" dirty="0">
                <a:solidFill>
                  <a:srgbClr val="00A896"/>
                </a:solidFill>
                <a:latin typeface="Calibri" pitchFamily="34" charset="0"/>
                <a:ea typeface="Calibri" pitchFamily="34" charset="-122"/>
                <a:cs typeface="Calibri" pitchFamily="34" charset="-120"/>
              </a:rPr>
              <a:t>07 · RESULTS</a:t>
            </a:r>
            <a:endParaRPr lang="en-US" sz="1300" dirty="0"/>
          </a:p>
        </p:txBody>
      </p:sp>
      <p:sp>
        <p:nvSpPr>
          <p:cNvPr id="3" name="Text 1"/>
          <p:cNvSpPr/>
          <p:nvPr/>
        </p:nvSpPr>
        <p:spPr>
          <a:xfrm>
            <a:off x="548640" y="777240"/>
            <a:ext cx="10515600" cy="640080"/>
          </a:xfrm>
          <a:prstGeom prst="rect">
            <a:avLst/>
          </a:prstGeom>
          <a:noFill/>
          <a:ln/>
        </p:spPr>
        <p:txBody>
          <a:bodyPr wrap="square" rtlCol="0" anchor="ctr"/>
          <a:lstStyle/>
          <a:p>
            <a:pPr marL="0" indent="0">
              <a:buNone/>
            </a:pPr>
            <a:r>
              <a:rPr lang="en-US" sz="3000" b="1" dirty="0">
                <a:solidFill>
                  <a:srgbClr val="0B2B2E"/>
                </a:solidFill>
                <a:latin typeface="Cambria" pitchFamily="34" charset="0"/>
                <a:ea typeface="Cambria" pitchFamily="34" charset="-122"/>
                <a:cs typeface="Cambria" pitchFamily="34" charset="-120"/>
              </a:rPr>
              <a:t>Model comparison on the held-out test set</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949440" cy="1828800"/>
        </p:xfrm>
        <a:graphic>
          <a:graphicData uri="http://schemas.openxmlformats.org/drawingml/2006/table">
            <a:tbl>
              <a:tblPr/>
              <a:tblGrid>
                <a:gridCol w="2286000">
                  <a:extLst>
                    <a:ext uri="{9D8B030D-6E8A-4147-A177-3AD203B41FA5}">
                      <a16:colId xmlns:a16="http://schemas.microsoft.com/office/drawing/2014/main" val="20000"/>
                    </a:ext>
                  </a:extLst>
                </a:gridCol>
                <a:gridCol w="932688">
                  <a:extLst>
                    <a:ext uri="{9D8B030D-6E8A-4147-A177-3AD203B41FA5}">
                      <a16:colId xmlns:a16="http://schemas.microsoft.com/office/drawing/2014/main" val="20001"/>
                    </a:ext>
                  </a:extLst>
                </a:gridCol>
                <a:gridCol w="932688">
                  <a:extLst>
                    <a:ext uri="{9D8B030D-6E8A-4147-A177-3AD203B41FA5}">
                      <a16:colId xmlns:a16="http://schemas.microsoft.com/office/drawing/2014/main" val="20002"/>
                    </a:ext>
                  </a:extLst>
                </a:gridCol>
                <a:gridCol w="932688">
                  <a:extLst>
                    <a:ext uri="{9D8B030D-6E8A-4147-A177-3AD203B41FA5}">
                      <a16:colId xmlns:a16="http://schemas.microsoft.com/office/drawing/2014/main" val="20003"/>
                    </a:ext>
                  </a:extLst>
                </a:gridCol>
                <a:gridCol w="932688">
                  <a:extLst>
                    <a:ext uri="{9D8B030D-6E8A-4147-A177-3AD203B41FA5}">
                      <a16:colId xmlns:a16="http://schemas.microsoft.com/office/drawing/2014/main" val="20004"/>
                    </a:ext>
                  </a:extLst>
                </a:gridCol>
                <a:gridCol w="932688">
                  <a:extLst>
                    <a:ext uri="{9D8B030D-6E8A-4147-A177-3AD203B41FA5}">
                      <a16:colId xmlns:a16="http://schemas.microsoft.com/office/drawing/2014/main" val="20005"/>
                    </a:ext>
                  </a:extLst>
                </a:gridCol>
              </a:tblGrid>
              <a:tr h="457200">
                <a:tc>
                  <a:txBody>
                    <a:bodyPr/>
                    <a:lstStyle/>
                    <a:p>
                      <a:pPr marL="0" indent="0" algn="ctr">
                        <a:buNone/>
                      </a:pPr>
                      <a:r>
                        <a:rPr lang="en-US" sz="1300" b="1" dirty="0">
                          <a:solidFill>
                            <a:srgbClr val="FFFFFF"/>
                          </a:solidFill>
                        </a:rPr>
                        <a:t>Model</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013A40"/>
                    </a:solidFill>
                  </a:tcPr>
                </a:tc>
                <a:tc>
                  <a:txBody>
                    <a:bodyPr/>
                    <a:lstStyle/>
                    <a:p>
                      <a:pPr marL="0" indent="0" algn="ctr">
                        <a:buNone/>
                      </a:pPr>
                      <a:r>
                        <a:rPr lang="en-US" sz="1300" b="1" dirty="0">
                          <a:solidFill>
                            <a:srgbClr val="FFFFFF"/>
                          </a:solidFill>
                        </a:rPr>
                        <a:t>Accuracy</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013A40"/>
                    </a:solidFill>
                  </a:tcPr>
                </a:tc>
                <a:tc>
                  <a:txBody>
                    <a:bodyPr/>
                    <a:lstStyle/>
                    <a:p>
                      <a:pPr marL="0" indent="0" algn="ctr">
                        <a:buNone/>
                      </a:pPr>
                      <a:r>
                        <a:rPr lang="en-US" sz="1300" b="1" dirty="0">
                          <a:solidFill>
                            <a:srgbClr val="FFFFFF"/>
                          </a:solidFill>
                        </a:rPr>
                        <a:t>Precision</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013A40"/>
                    </a:solidFill>
                  </a:tcPr>
                </a:tc>
                <a:tc>
                  <a:txBody>
                    <a:bodyPr/>
                    <a:lstStyle/>
                    <a:p>
                      <a:pPr marL="0" indent="0" algn="ctr">
                        <a:buNone/>
                      </a:pPr>
                      <a:r>
                        <a:rPr lang="en-US" sz="1300" b="1" dirty="0">
                          <a:solidFill>
                            <a:srgbClr val="FFFFFF"/>
                          </a:solidFill>
                        </a:rPr>
                        <a:t>Recall</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013A40"/>
                    </a:solidFill>
                  </a:tcPr>
                </a:tc>
                <a:tc>
                  <a:txBody>
                    <a:bodyPr/>
                    <a:lstStyle/>
                    <a:p>
                      <a:pPr marL="0" indent="0" algn="ctr">
                        <a:buNone/>
                      </a:pPr>
                      <a:r>
                        <a:rPr lang="en-US" sz="1300" b="1" dirty="0">
                          <a:solidFill>
                            <a:srgbClr val="FFFFFF"/>
                          </a:solidFill>
                        </a:rPr>
                        <a:t>F1</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013A40"/>
                    </a:solidFill>
                  </a:tcPr>
                </a:tc>
                <a:tc>
                  <a:txBody>
                    <a:bodyPr/>
                    <a:lstStyle/>
                    <a:p>
                      <a:pPr marL="0" indent="0" algn="ctr">
                        <a:buNone/>
                      </a:pPr>
                      <a:r>
                        <a:rPr lang="en-US" sz="1300" b="1" dirty="0">
                          <a:solidFill>
                            <a:srgbClr val="FFFFFF"/>
                          </a:solidFill>
                        </a:rPr>
                        <a:t>ROC-AUC</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013A40"/>
                    </a:solidFill>
                  </a:tcPr>
                </a:tc>
                <a:extLst>
                  <a:ext uri="{0D108BD9-81ED-4DB2-BD59-A6C34878D82A}">
                    <a16:rowId xmlns:a16="http://schemas.microsoft.com/office/drawing/2014/main" val="10000"/>
                  </a:ext>
                </a:extLst>
              </a:tr>
              <a:tr h="457200">
                <a:tc>
                  <a:txBody>
                    <a:bodyPr/>
                    <a:lstStyle/>
                    <a:p>
                      <a:pPr marL="0" indent="0" algn="l">
                        <a:buNone/>
                      </a:pPr>
                      <a:r>
                        <a:rPr lang="en-US" sz="1300" b="1" dirty="0">
                          <a:solidFill>
                            <a:srgbClr val="0B2B2E"/>
                          </a:solidFill>
                        </a:rPr>
                        <a:t>Logistic Regression</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0B2B2E"/>
                          </a:solidFill>
                        </a:rPr>
                        <a:t>0.9875</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0B2B2E"/>
                          </a:solidFill>
                        </a:rPr>
                        <a:t>0.9804</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0B2B2E"/>
                          </a:solidFill>
                        </a:rPr>
                        <a:t>1.0000</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0B2B2E"/>
                          </a:solidFill>
                        </a:rPr>
                        <a:t>0.9901</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0B2B2E"/>
                          </a:solidFill>
                        </a:rPr>
                        <a:t>1.0000</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300" b="1" dirty="0">
                          <a:solidFill>
                            <a:srgbClr val="0B2B2E"/>
                          </a:solidFill>
                        </a:rPr>
                        <a:t>Random Forest</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2F7F7"/>
                    </a:solidFill>
                  </a:tcPr>
                </a:tc>
                <a:tc>
                  <a:txBody>
                    <a:bodyPr/>
                    <a:lstStyle/>
                    <a:p>
                      <a:pPr marL="0" indent="0" algn="ctr">
                        <a:buNone/>
                      </a:pPr>
                      <a:r>
                        <a:rPr lang="en-US" sz="1300" dirty="0">
                          <a:solidFill>
                            <a:srgbClr val="0B2B2E"/>
                          </a:solidFill>
                        </a:rPr>
                        <a:t>0.9875</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2F7F7"/>
                    </a:solidFill>
                  </a:tcPr>
                </a:tc>
                <a:tc>
                  <a:txBody>
                    <a:bodyPr/>
                    <a:lstStyle/>
                    <a:p>
                      <a:pPr marL="0" indent="0" algn="ctr">
                        <a:buNone/>
                      </a:pPr>
                      <a:r>
                        <a:rPr lang="en-US" sz="1300" dirty="0">
                          <a:solidFill>
                            <a:srgbClr val="0B2B2E"/>
                          </a:solidFill>
                        </a:rPr>
                        <a:t>0.9804</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2F7F7"/>
                    </a:solidFill>
                  </a:tcPr>
                </a:tc>
                <a:tc>
                  <a:txBody>
                    <a:bodyPr/>
                    <a:lstStyle/>
                    <a:p>
                      <a:pPr marL="0" indent="0" algn="ctr">
                        <a:buNone/>
                      </a:pPr>
                      <a:r>
                        <a:rPr lang="en-US" sz="1300" dirty="0">
                          <a:solidFill>
                            <a:srgbClr val="0B2B2E"/>
                          </a:solidFill>
                        </a:rPr>
                        <a:t>1.0000</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2F7F7"/>
                    </a:solidFill>
                  </a:tcPr>
                </a:tc>
                <a:tc>
                  <a:txBody>
                    <a:bodyPr/>
                    <a:lstStyle/>
                    <a:p>
                      <a:pPr marL="0" indent="0" algn="ctr">
                        <a:buNone/>
                      </a:pPr>
                      <a:r>
                        <a:rPr lang="en-US" sz="1300" dirty="0">
                          <a:solidFill>
                            <a:srgbClr val="0B2B2E"/>
                          </a:solidFill>
                        </a:rPr>
                        <a:t>0.9901</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2F7F7"/>
                    </a:solidFill>
                  </a:tcPr>
                </a:tc>
                <a:tc>
                  <a:txBody>
                    <a:bodyPr/>
                    <a:lstStyle/>
                    <a:p>
                      <a:pPr marL="0" indent="0" algn="ctr">
                        <a:buNone/>
                      </a:pPr>
                      <a:r>
                        <a:rPr lang="en-US" sz="1300" dirty="0">
                          <a:solidFill>
                            <a:srgbClr val="0B2B2E"/>
                          </a:solidFill>
                        </a:rPr>
                        <a:t>0.9967</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2F7F7"/>
                    </a:solidFill>
                  </a:tcPr>
                </a:tc>
                <a:extLst>
                  <a:ext uri="{0D108BD9-81ED-4DB2-BD59-A6C34878D82A}">
                    <a16:rowId xmlns:a16="http://schemas.microsoft.com/office/drawing/2014/main" val="10002"/>
                  </a:ext>
                </a:extLst>
              </a:tr>
              <a:tr h="457200">
                <a:tc>
                  <a:txBody>
                    <a:bodyPr/>
                    <a:lstStyle/>
                    <a:p>
                      <a:pPr marL="0" indent="0" algn="l">
                        <a:buNone/>
                      </a:pPr>
                      <a:r>
                        <a:rPr lang="en-US" sz="1300" b="1" dirty="0">
                          <a:solidFill>
                            <a:srgbClr val="0B2B2E"/>
                          </a:solidFill>
                        </a:rPr>
                        <a:t>SVM</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0B2B2E"/>
                          </a:solidFill>
                        </a:rPr>
                        <a:t>0.9875</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0B2B2E"/>
                          </a:solidFill>
                        </a:rPr>
                        <a:t>0.9804</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0B2B2E"/>
                          </a:solidFill>
                        </a:rPr>
                        <a:t>1.0000</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0B2B2E"/>
                          </a:solidFill>
                        </a:rPr>
                        <a:t>0.9901</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0B2B2E"/>
                          </a:solidFill>
                        </a:rPr>
                        <a:t>1.0000</a:t>
                      </a:r>
                      <a:endParaRPr lang="en-US" sz="1300" dirty="0"/>
                    </a:p>
                  </a:txBody>
                  <a:tcPr>
                    <a:lnL w="12700" cap="flat" cmpd="sng" algn="ctr">
                      <a:solidFill>
                        <a:srgbClr val="E3ECEC"/>
                      </a:solidFill>
                      <a:prstDash val="solid"/>
                      <a:round/>
                      <a:headEnd type="none" w="med" len="med"/>
                      <a:tailEnd type="none" w="med" len="med"/>
                    </a:lnL>
                    <a:lnR w="12700" cap="flat" cmpd="sng" algn="ctr">
                      <a:solidFill>
                        <a:srgbClr val="E3ECEC"/>
                      </a:solidFill>
                      <a:prstDash val="solid"/>
                      <a:round/>
                      <a:headEnd type="none" w="med" len="med"/>
                      <a:tailEnd type="none" w="med" len="med"/>
                    </a:lnR>
                    <a:lnT w="12700" cap="flat" cmpd="sng" algn="ctr">
                      <a:solidFill>
                        <a:srgbClr val="E3ECEC"/>
                      </a:solidFill>
                      <a:prstDash val="solid"/>
                      <a:round/>
                      <a:headEnd type="none" w="med" len="med"/>
                      <a:tailEnd type="none" w="med" len="med"/>
                    </a:lnT>
                    <a:lnB w="12700" cap="flat" cmpd="sng" algn="ctr">
                      <a:solidFill>
                        <a:srgbClr val="E3EC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Text 2"/>
          <p:cNvSpPr/>
          <p:nvPr/>
        </p:nvSpPr>
        <p:spPr>
          <a:xfrm>
            <a:off x="548640" y="3611880"/>
            <a:ext cx="6949440" cy="365760"/>
          </a:xfrm>
          <a:prstGeom prst="rect">
            <a:avLst/>
          </a:prstGeom>
          <a:noFill/>
          <a:ln/>
        </p:spPr>
        <p:txBody>
          <a:bodyPr wrap="square" rtlCol="0" anchor="ctr"/>
          <a:lstStyle/>
          <a:p>
            <a:pPr marL="0" indent="0">
              <a:buNone/>
            </a:pPr>
            <a:r>
              <a:rPr lang="en-US" sz="1400" b="1" dirty="0">
                <a:solidFill>
                  <a:srgbClr val="028090"/>
                </a:solidFill>
                <a:latin typeface="Calibri" pitchFamily="34" charset="0"/>
                <a:ea typeface="Calibri" pitchFamily="34" charset="-122"/>
                <a:cs typeface="Calibri" pitchFamily="34" charset="-120"/>
              </a:rPr>
              <a:t>Best model: Logistic Regression (highest test-set F1)</a:t>
            </a:r>
            <a:endParaRPr lang="en-US" sz="1400" dirty="0"/>
          </a:p>
        </p:txBody>
      </p:sp>
      <p:sp>
        <p:nvSpPr>
          <p:cNvPr id="6" name="Text 3"/>
          <p:cNvSpPr/>
          <p:nvPr/>
        </p:nvSpPr>
        <p:spPr>
          <a:xfrm>
            <a:off x="548640" y="4023360"/>
            <a:ext cx="6949440" cy="1188720"/>
          </a:xfrm>
          <a:prstGeom prst="rect">
            <a:avLst/>
          </a:prstGeom>
          <a:noFill/>
          <a:ln/>
        </p:spPr>
        <p:txBody>
          <a:bodyPr wrap="square" rtlCol="0" anchor="ctr"/>
          <a:lstStyle/>
          <a:p>
            <a:pPr marL="0" indent="0">
              <a:lnSpc>
                <a:spcPts val="1700"/>
              </a:lnSpc>
              <a:buNone/>
            </a:pPr>
            <a:r>
              <a:rPr lang="en-US" sz="1300" dirty="0">
                <a:solidFill>
                  <a:srgbClr val="5C7A7D"/>
                </a:solidFill>
                <a:latin typeface="Calibri" pitchFamily="34" charset="0"/>
                <a:ea typeface="Calibri" pitchFamily="34" charset="-122"/>
                <a:cs typeface="Calibri" pitchFamily="34" charset="-120"/>
              </a:rPr>
              <a:t>All three tuned models perform strongly and similarly — the classes are well separated once hemoglobin, serum creatinine, specific gravity and albumin are available. Precision and recall both far exceed the project's 0.30 minimum, independently confirmed by tester.py.</a:t>
            </a:r>
            <a:endParaRPr lang="en-US" sz="1300" dirty="0"/>
          </a:p>
        </p:txBody>
      </p:sp>
      <p:pic>
        <p:nvPicPr>
          <p:cNvPr id="7" name="Image 0" descr="/home/claude/ckd_project/figures/07_confusion_matrix.png"/>
          <p:cNvPicPr>
            <a:picLocks noChangeAspect="1"/>
          </p:cNvPicPr>
          <p:nvPr/>
        </p:nvPicPr>
        <p:blipFill>
          <a:blip r:embed="rId3"/>
          <a:stretch>
            <a:fillRect/>
          </a:stretch>
        </p:blipFill>
        <p:spPr>
          <a:xfrm>
            <a:off x="7955280" y="1600200"/>
            <a:ext cx="3703320" cy="3703320"/>
          </a:xfrm>
          <a:prstGeom prst="rect">
            <a:avLst/>
          </a:prstGeom>
        </p:spPr>
      </p:pic>
      <p:sp>
        <p:nvSpPr>
          <p:cNvPr id="8" name="Text 4"/>
          <p:cNvSpPr/>
          <p:nvPr/>
        </p:nvSpPr>
        <p:spPr>
          <a:xfrm>
            <a:off x="7955280" y="5349240"/>
            <a:ext cx="3703320" cy="274320"/>
          </a:xfrm>
          <a:prstGeom prst="rect">
            <a:avLst/>
          </a:prstGeom>
          <a:noFill/>
          <a:ln/>
        </p:spPr>
        <p:txBody>
          <a:bodyPr wrap="square" rtlCol="0" anchor="ctr"/>
          <a:lstStyle/>
          <a:p>
            <a:pPr marL="0" indent="0" algn="ctr">
              <a:buNone/>
            </a:pPr>
            <a:r>
              <a:rPr lang="en-US" sz="1100" i="1" dirty="0">
                <a:solidFill>
                  <a:srgbClr val="5C7A7D"/>
                </a:solidFill>
                <a:latin typeface="Calibri" pitchFamily="34" charset="0"/>
                <a:ea typeface="Calibri" pitchFamily="34" charset="-122"/>
                <a:cs typeface="Calibri" pitchFamily="34" charset="-120"/>
              </a:rPr>
              <a:t>Confusion matrix — best model</a:t>
            </a:r>
            <a:endParaRPr lang="en-US" sz="1100" dirty="0"/>
          </a:p>
        </p:txBody>
      </p:sp>
      <p:sp>
        <p:nvSpPr>
          <p:cNvPr id="9" name="Text 5"/>
          <p:cNvSpPr/>
          <p:nvPr/>
        </p:nvSpPr>
        <p:spPr>
          <a:xfrm>
            <a:off x="11274552" y="6355080"/>
            <a:ext cx="548640" cy="320040"/>
          </a:xfrm>
          <a:prstGeom prst="rect">
            <a:avLst/>
          </a:prstGeom>
          <a:noFill/>
          <a:ln/>
        </p:spPr>
        <p:txBody>
          <a:bodyPr wrap="square" rtlCol="0" anchor="ctr"/>
          <a:lstStyle/>
          <a:p>
            <a:pPr marL="0" indent="0" algn="r">
              <a:buNone/>
            </a:pPr>
            <a:r>
              <a:rPr lang="en-US" sz="1100" dirty="0">
                <a:solidFill>
                  <a:srgbClr val="5C7A7D"/>
                </a:solidFill>
                <a:latin typeface="Calibri" pitchFamily="34" charset="0"/>
                <a:ea typeface="Calibri" pitchFamily="34" charset="-122"/>
                <a:cs typeface="Calibri"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marL="0" indent="0">
              <a:buNone/>
            </a:pPr>
            <a:r>
              <a:rPr lang="en-US" sz="1300" b="1" kern="0" spc="200" dirty="0">
                <a:solidFill>
                  <a:srgbClr val="00A896"/>
                </a:solidFill>
                <a:latin typeface="Calibri" pitchFamily="34" charset="0"/>
                <a:ea typeface="Calibri" pitchFamily="34" charset="-122"/>
                <a:cs typeface="Calibri" pitchFamily="34" charset="-120"/>
              </a:rPr>
              <a:t>08 · DEPLOYMENT</a:t>
            </a:r>
            <a:endParaRPr lang="en-US" sz="1300" dirty="0"/>
          </a:p>
        </p:txBody>
      </p:sp>
      <p:sp>
        <p:nvSpPr>
          <p:cNvPr id="3" name="Text 1"/>
          <p:cNvSpPr/>
          <p:nvPr/>
        </p:nvSpPr>
        <p:spPr>
          <a:xfrm>
            <a:off x="548640" y="777240"/>
            <a:ext cx="10058400" cy="640080"/>
          </a:xfrm>
          <a:prstGeom prst="rect">
            <a:avLst/>
          </a:prstGeom>
          <a:noFill/>
          <a:ln/>
        </p:spPr>
        <p:txBody>
          <a:bodyPr wrap="square" rtlCol="0" anchor="ctr"/>
          <a:lstStyle/>
          <a:p>
            <a:pPr marL="0" indent="0">
              <a:buNone/>
            </a:pPr>
            <a:r>
              <a:rPr lang="en-US" sz="3200" b="1" dirty="0">
                <a:solidFill>
                  <a:srgbClr val="0B2B2E"/>
                </a:solidFill>
                <a:latin typeface="Cambria" pitchFamily="34" charset="0"/>
                <a:ea typeface="Cambria" pitchFamily="34" charset="-122"/>
                <a:cs typeface="Cambria" pitchFamily="34" charset="-120"/>
              </a:rPr>
              <a:t>From notebook to a usable web app</a:t>
            </a:r>
            <a:endParaRPr lang="en-US" sz="3200" dirty="0"/>
          </a:p>
        </p:txBody>
      </p:sp>
      <p:sp>
        <p:nvSpPr>
          <p:cNvPr id="4" name="Shape 2"/>
          <p:cNvSpPr/>
          <p:nvPr/>
        </p:nvSpPr>
        <p:spPr>
          <a:xfrm>
            <a:off x="676656" y="2103120"/>
            <a:ext cx="2331720" cy="1463040"/>
          </a:xfrm>
          <a:prstGeom prst="roundRect">
            <a:avLst>
              <a:gd name="adj" fmla="val 6250"/>
            </a:avLst>
          </a:prstGeom>
          <a:solidFill>
            <a:srgbClr val="013A40"/>
          </a:solidFill>
          <a:ln/>
        </p:spPr>
        <p:txBody>
          <a:bodyPr/>
          <a:lstStyle/>
          <a:p>
            <a:endParaRPr lang="en-EG"/>
          </a:p>
        </p:txBody>
      </p:sp>
      <p:sp>
        <p:nvSpPr>
          <p:cNvPr id="5" name="Text 3"/>
          <p:cNvSpPr/>
          <p:nvPr/>
        </p:nvSpPr>
        <p:spPr>
          <a:xfrm>
            <a:off x="676656" y="2103120"/>
            <a:ext cx="2331720" cy="1463040"/>
          </a:xfrm>
          <a:prstGeom prst="rect">
            <a:avLst/>
          </a:prstGeom>
          <a:noFill/>
          <a:ln/>
        </p:spPr>
        <p:txBody>
          <a:bodyPr wrap="square" rtlCol="0" anchor="ctr"/>
          <a:lstStyle/>
          <a:p>
            <a:pPr marL="0" indent="0" algn="ctr">
              <a:lnSpc>
                <a:spcPts val="1600"/>
              </a:lnSpc>
              <a:buNone/>
            </a:pPr>
            <a:r>
              <a:rPr lang="en-US" sz="1350" b="1" dirty="0">
                <a:solidFill>
                  <a:srgbClr val="FFFFFF"/>
                </a:solidFill>
                <a:latin typeface="Calibri" pitchFamily="34" charset="0"/>
                <a:ea typeface="Calibri" pitchFamily="34" charset="-122"/>
                <a:cs typeface="Calibri" pitchFamily="34" charset="-120"/>
              </a:rPr>
              <a:t>Trained model</a:t>
            </a:r>
            <a:endParaRPr lang="en-US" sz="1350" dirty="0"/>
          </a:p>
          <a:p>
            <a:pPr marL="0" indent="0" algn="ctr">
              <a:lnSpc>
                <a:spcPts val="1600"/>
              </a:lnSpc>
              <a:buNone/>
            </a:pPr>
            <a:r>
              <a:rPr lang="en-US" sz="1350" b="1" dirty="0">
                <a:solidFill>
                  <a:srgbClr val="FFFFFF"/>
                </a:solidFill>
                <a:latin typeface="Calibri" pitchFamily="34" charset="0"/>
                <a:ea typeface="Calibri" pitchFamily="34" charset="-122"/>
                <a:cs typeface="Calibri" pitchFamily="34" charset="-120"/>
              </a:rPr>
              <a:t>+ scaler</a:t>
            </a:r>
            <a:endParaRPr lang="en-US" sz="1350" dirty="0"/>
          </a:p>
          <a:p>
            <a:pPr marL="0" indent="0" algn="ctr">
              <a:lnSpc>
                <a:spcPts val="1600"/>
              </a:lnSpc>
              <a:buNone/>
            </a:pPr>
            <a:r>
              <a:rPr lang="en-US" sz="1350" b="1" dirty="0">
                <a:solidFill>
                  <a:srgbClr val="FFFFFF"/>
                </a:solidFill>
                <a:latin typeface="Calibri" pitchFamily="34" charset="0"/>
                <a:ea typeface="Calibri" pitchFamily="34" charset="-122"/>
                <a:cs typeface="Calibri" pitchFamily="34" charset="-120"/>
              </a:rPr>
              <a:t>+ encoders</a:t>
            </a:r>
            <a:endParaRPr lang="en-US" sz="1350" dirty="0"/>
          </a:p>
        </p:txBody>
      </p:sp>
      <p:sp>
        <p:nvSpPr>
          <p:cNvPr id="6" name="Text 4"/>
          <p:cNvSpPr/>
          <p:nvPr/>
        </p:nvSpPr>
        <p:spPr>
          <a:xfrm>
            <a:off x="3008376" y="2103120"/>
            <a:ext cx="502920" cy="1463040"/>
          </a:xfrm>
          <a:prstGeom prst="rect">
            <a:avLst/>
          </a:prstGeom>
          <a:noFill/>
          <a:ln/>
        </p:spPr>
        <p:txBody>
          <a:bodyPr wrap="square" rtlCol="0" anchor="ctr"/>
          <a:lstStyle/>
          <a:p>
            <a:pPr marL="0" indent="0" algn="ctr">
              <a:buNone/>
            </a:pPr>
            <a:r>
              <a:rPr lang="en-US" sz="2600" b="1" dirty="0">
                <a:solidFill>
                  <a:srgbClr val="00A896"/>
                </a:solidFill>
                <a:latin typeface="Arial" pitchFamily="34" charset="0"/>
                <a:ea typeface="Arial" pitchFamily="34" charset="-122"/>
                <a:cs typeface="Arial" pitchFamily="34" charset="-120"/>
              </a:rPr>
              <a:t>→</a:t>
            </a:r>
            <a:endParaRPr lang="en-US" sz="2600" dirty="0"/>
          </a:p>
        </p:txBody>
      </p:sp>
      <p:sp>
        <p:nvSpPr>
          <p:cNvPr id="7" name="Shape 5"/>
          <p:cNvSpPr/>
          <p:nvPr/>
        </p:nvSpPr>
        <p:spPr>
          <a:xfrm>
            <a:off x="3511296" y="2103120"/>
            <a:ext cx="2331720" cy="1463040"/>
          </a:xfrm>
          <a:prstGeom prst="roundRect">
            <a:avLst>
              <a:gd name="adj" fmla="val 6250"/>
            </a:avLst>
          </a:prstGeom>
          <a:solidFill>
            <a:srgbClr val="028090"/>
          </a:solidFill>
          <a:ln/>
        </p:spPr>
        <p:txBody>
          <a:bodyPr/>
          <a:lstStyle/>
          <a:p>
            <a:endParaRPr lang="en-EG"/>
          </a:p>
        </p:txBody>
      </p:sp>
      <p:sp>
        <p:nvSpPr>
          <p:cNvPr id="8" name="Text 6"/>
          <p:cNvSpPr/>
          <p:nvPr/>
        </p:nvSpPr>
        <p:spPr>
          <a:xfrm>
            <a:off x="3511296" y="2103120"/>
            <a:ext cx="2331720" cy="1463040"/>
          </a:xfrm>
          <a:prstGeom prst="rect">
            <a:avLst/>
          </a:prstGeom>
          <a:noFill/>
          <a:ln/>
        </p:spPr>
        <p:txBody>
          <a:bodyPr wrap="square" rtlCol="0" anchor="ctr"/>
          <a:lstStyle/>
          <a:p>
            <a:pPr marL="0" indent="0" algn="ctr">
              <a:lnSpc>
                <a:spcPts val="1600"/>
              </a:lnSpc>
              <a:buNone/>
            </a:pPr>
            <a:r>
              <a:rPr lang="en-US" sz="1350" b="1" dirty="0">
                <a:solidFill>
                  <a:srgbClr val="FFFFFF"/>
                </a:solidFill>
                <a:latin typeface="Calibri" pitchFamily="34" charset="0"/>
                <a:ea typeface="Calibri" pitchFamily="34" charset="-122"/>
                <a:cs typeface="Calibri" pitchFamily="34" charset="-120"/>
              </a:rPr>
              <a:t>Streamlit</a:t>
            </a:r>
            <a:endParaRPr lang="en-US" sz="1350" dirty="0"/>
          </a:p>
          <a:p>
            <a:pPr marL="0" indent="0" algn="ctr">
              <a:lnSpc>
                <a:spcPts val="1600"/>
              </a:lnSpc>
              <a:buNone/>
            </a:pPr>
            <a:r>
              <a:rPr lang="en-US" sz="1350" b="1" dirty="0">
                <a:solidFill>
                  <a:srgbClr val="FFFFFF"/>
                </a:solidFill>
                <a:latin typeface="Calibri" pitchFamily="34" charset="0"/>
                <a:ea typeface="Calibri" pitchFamily="34" charset="-122"/>
                <a:cs typeface="Calibri" pitchFamily="34" charset="-120"/>
              </a:rPr>
              <a:t>app.py</a:t>
            </a:r>
            <a:endParaRPr lang="en-US" sz="1350" dirty="0"/>
          </a:p>
        </p:txBody>
      </p:sp>
      <p:sp>
        <p:nvSpPr>
          <p:cNvPr id="9" name="Text 7"/>
          <p:cNvSpPr/>
          <p:nvPr/>
        </p:nvSpPr>
        <p:spPr>
          <a:xfrm>
            <a:off x="5843016" y="2103120"/>
            <a:ext cx="502920" cy="1463040"/>
          </a:xfrm>
          <a:prstGeom prst="rect">
            <a:avLst/>
          </a:prstGeom>
          <a:noFill/>
          <a:ln/>
        </p:spPr>
        <p:txBody>
          <a:bodyPr wrap="square" rtlCol="0" anchor="ctr"/>
          <a:lstStyle/>
          <a:p>
            <a:pPr marL="0" indent="0" algn="ctr">
              <a:buNone/>
            </a:pPr>
            <a:r>
              <a:rPr lang="en-US" sz="2600" b="1" dirty="0">
                <a:solidFill>
                  <a:srgbClr val="00A896"/>
                </a:solidFill>
                <a:latin typeface="Arial" pitchFamily="34" charset="0"/>
                <a:ea typeface="Arial" pitchFamily="34" charset="-122"/>
                <a:cs typeface="Arial" pitchFamily="34" charset="-120"/>
              </a:rPr>
              <a:t>→</a:t>
            </a:r>
            <a:endParaRPr lang="en-US" sz="2600" dirty="0"/>
          </a:p>
        </p:txBody>
      </p:sp>
      <p:sp>
        <p:nvSpPr>
          <p:cNvPr id="10" name="Shape 8"/>
          <p:cNvSpPr/>
          <p:nvPr/>
        </p:nvSpPr>
        <p:spPr>
          <a:xfrm>
            <a:off x="6345936" y="2103120"/>
            <a:ext cx="2331720" cy="1463040"/>
          </a:xfrm>
          <a:prstGeom prst="roundRect">
            <a:avLst>
              <a:gd name="adj" fmla="val 6250"/>
            </a:avLst>
          </a:prstGeom>
          <a:solidFill>
            <a:srgbClr val="013A40"/>
          </a:solidFill>
          <a:ln/>
        </p:spPr>
        <p:txBody>
          <a:bodyPr/>
          <a:lstStyle/>
          <a:p>
            <a:endParaRPr lang="en-EG"/>
          </a:p>
        </p:txBody>
      </p:sp>
      <p:sp>
        <p:nvSpPr>
          <p:cNvPr id="11" name="Text 9"/>
          <p:cNvSpPr/>
          <p:nvPr/>
        </p:nvSpPr>
        <p:spPr>
          <a:xfrm>
            <a:off x="6345936" y="2103120"/>
            <a:ext cx="2331720" cy="1463040"/>
          </a:xfrm>
          <a:prstGeom prst="rect">
            <a:avLst/>
          </a:prstGeom>
          <a:noFill/>
          <a:ln/>
        </p:spPr>
        <p:txBody>
          <a:bodyPr wrap="square" rtlCol="0" anchor="ctr"/>
          <a:lstStyle/>
          <a:p>
            <a:pPr marL="0" indent="0" algn="ctr">
              <a:lnSpc>
                <a:spcPts val="1600"/>
              </a:lnSpc>
              <a:buNone/>
            </a:pPr>
            <a:r>
              <a:rPr lang="en-US" sz="1350" b="1" dirty="0">
                <a:solidFill>
                  <a:srgbClr val="FFFFFF"/>
                </a:solidFill>
                <a:latin typeface="Calibri" pitchFamily="34" charset="0"/>
                <a:ea typeface="Calibri" pitchFamily="34" charset="-122"/>
                <a:cs typeface="Calibri" pitchFamily="34" charset="-120"/>
              </a:rPr>
              <a:t>Patient enters</a:t>
            </a:r>
            <a:endParaRPr lang="en-US" sz="1350" dirty="0"/>
          </a:p>
          <a:p>
            <a:pPr marL="0" indent="0" algn="ctr">
              <a:lnSpc>
                <a:spcPts val="1600"/>
              </a:lnSpc>
              <a:buNone/>
            </a:pPr>
            <a:r>
              <a:rPr lang="en-US" sz="1350" b="1" dirty="0">
                <a:solidFill>
                  <a:srgbClr val="FFFFFF"/>
                </a:solidFill>
                <a:latin typeface="Calibri" pitchFamily="34" charset="0"/>
                <a:ea typeface="Calibri" pitchFamily="34" charset="-122"/>
                <a:cs typeface="Calibri" pitchFamily="34" charset="-120"/>
              </a:rPr>
              <a:t>clinical values</a:t>
            </a:r>
            <a:endParaRPr lang="en-US" sz="1350" dirty="0"/>
          </a:p>
        </p:txBody>
      </p:sp>
      <p:sp>
        <p:nvSpPr>
          <p:cNvPr id="12" name="Text 10"/>
          <p:cNvSpPr/>
          <p:nvPr/>
        </p:nvSpPr>
        <p:spPr>
          <a:xfrm>
            <a:off x="8677656" y="2103120"/>
            <a:ext cx="502920" cy="1463040"/>
          </a:xfrm>
          <a:prstGeom prst="rect">
            <a:avLst/>
          </a:prstGeom>
          <a:noFill/>
          <a:ln/>
        </p:spPr>
        <p:txBody>
          <a:bodyPr wrap="square" rtlCol="0" anchor="ctr"/>
          <a:lstStyle/>
          <a:p>
            <a:pPr marL="0" indent="0" algn="ctr">
              <a:buNone/>
            </a:pPr>
            <a:r>
              <a:rPr lang="en-US" sz="2600" b="1" dirty="0">
                <a:solidFill>
                  <a:srgbClr val="00A896"/>
                </a:solidFill>
                <a:latin typeface="Arial" pitchFamily="34" charset="0"/>
                <a:ea typeface="Arial" pitchFamily="34" charset="-122"/>
                <a:cs typeface="Arial" pitchFamily="34" charset="-120"/>
              </a:rPr>
              <a:t>→</a:t>
            </a:r>
            <a:endParaRPr lang="en-US" sz="2600" dirty="0"/>
          </a:p>
        </p:txBody>
      </p:sp>
      <p:sp>
        <p:nvSpPr>
          <p:cNvPr id="13" name="Shape 11"/>
          <p:cNvSpPr/>
          <p:nvPr/>
        </p:nvSpPr>
        <p:spPr>
          <a:xfrm>
            <a:off x="9180576" y="2103120"/>
            <a:ext cx="2331720" cy="1463040"/>
          </a:xfrm>
          <a:prstGeom prst="roundRect">
            <a:avLst>
              <a:gd name="adj" fmla="val 6250"/>
            </a:avLst>
          </a:prstGeom>
          <a:solidFill>
            <a:srgbClr val="028090"/>
          </a:solidFill>
          <a:ln/>
        </p:spPr>
        <p:txBody>
          <a:bodyPr/>
          <a:lstStyle/>
          <a:p>
            <a:endParaRPr lang="en-EG"/>
          </a:p>
        </p:txBody>
      </p:sp>
      <p:sp>
        <p:nvSpPr>
          <p:cNvPr id="14" name="Text 12"/>
          <p:cNvSpPr/>
          <p:nvPr/>
        </p:nvSpPr>
        <p:spPr>
          <a:xfrm>
            <a:off x="9180576" y="2103120"/>
            <a:ext cx="2331720" cy="1463040"/>
          </a:xfrm>
          <a:prstGeom prst="rect">
            <a:avLst/>
          </a:prstGeom>
          <a:noFill/>
          <a:ln/>
        </p:spPr>
        <p:txBody>
          <a:bodyPr wrap="square" rtlCol="0" anchor="ctr"/>
          <a:lstStyle/>
          <a:p>
            <a:pPr marL="0" indent="0" algn="ctr">
              <a:lnSpc>
                <a:spcPts val="1600"/>
              </a:lnSpc>
              <a:buNone/>
            </a:pPr>
            <a:r>
              <a:rPr lang="en-US" sz="1350" b="1" dirty="0">
                <a:solidFill>
                  <a:srgbClr val="FFFFFF"/>
                </a:solidFill>
                <a:latin typeface="Calibri" pitchFamily="34" charset="0"/>
                <a:ea typeface="Calibri" pitchFamily="34" charset="-122"/>
                <a:cs typeface="Calibri" pitchFamily="34" charset="-120"/>
              </a:rPr>
              <a:t>CKD risk +</a:t>
            </a:r>
            <a:endParaRPr lang="en-US" sz="1350" dirty="0"/>
          </a:p>
          <a:p>
            <a:pPr marL="0" indent="0" algn="ctr">
              <a:lnSpc>
                <a:spcPts val="1600"/>
              </a:lnSpc>
              <a:buNone/>
            </a:pPr>
            <a:r>
              <a:rPr lang="en-US" sz="1350" b="1" dirty="0">
                <a:solidFill>
                  <a:srgbClr val="FFFFFF"/>
                </a:solidFill>
                <a:latin typeface="Calibri" pitchFamily="34" charset="0"/>
                <a:ea typeface="Calibri" pitchFamily="34" charset="-122"/>
                <a:cs typeface="Calibri" pitchFamily="34" charset="-120"/>
              </a:rPr>
              <a:t>probability shown</a:t>
            </a:r>
            <a:endParaRPr lang="en-US" sz="1350" dirty="0"/>
          </a:p>
        </p:txBody>
      </p:sp>
      <p:sp>
        <p:nvSpPr>
          <p:cNvPr id="15" name="Shape 13"/>
          <p:cNvSpPr/>
          <p:nvPr/>
        </p:nvSpPr>
        <p:spPr>
          <a:xfrm>
            <a:off x="822960" y="4169664"/>
            <a:ext cx="128016" cy="128016"/>
          </a:xfrm>
          <a:prstGeom prst="ellipse">
            <a:avLst/>
          </a:prstGeom>
          <a:solidFill>
            <a:srgbClr val="00A896"/>
          </a:solidFill>
          <a:ln/>
        </p:spPr>
        <p:txBody>
          <a:bodyPr/>
          <a:lstStyle/>
          <a:p>
            <a:endParaRPr lang="en-EG"/>
          </a:p>
        </p:txBody>
      </p:sp>
      <p:sp>
        <p:nvSpPr>
          <p:cNvPr id="16" name="Text 14"/>
          <p:cNvSpPr/>
          <p:nvPr/>
        </p:nvSpPr>
        <p:spPr>
          <a:xfrm>
            <a:off x="1143000" y="4005072"/>
            <a:ext cx="9875520" cy="548640"/>
          </a:xfrm>
          <a:prstGeom prst="rect">
            <a:avLst/>
          </a:prstGeom>
          <a:noFill/>
          <a:ln/>
        </p:spPr>
        <p:txBody>
          <a:bodyPr wrap="square" rtlCol="0" anchor="ctr"/>
          <a:lstStyle/>
          <a:p>
            <a:pPr marL="0" indent="0">
              <a:lnSpc>
                <a:spcPts val="1800"/>
              </a:lnSpc>
              <a:buNone/>
            </a:pPr>
            <a:r>
              <a:rPr lang="en-US" sz="1400" dirty="0">
                <a:solidFill>
                  <a:srgbClr val="0B2B2E"/>
                </a:solidFill>
                <a:latin typeface="Calibri" pitchFamily="34" charset="0"/>
                <a:ea typeface="Calibri" pitchFamily="34" charset="-122"/>
                <a:cs typeface="Calibri" pitchFamily="34" charset="-120"/>
              </a:rPr>
              <a:t>All preprocessing artifacts saved: model, scaler, label encoders, selected feature list, imputation medians</a:t>
            </a:r>
            <a:endParaRPr lang="en-US" sz="1400" dirty="0"/>
          </a:p>
        </p:txBody>
      </p:sp>
      <p:sp>
        <p:nvSpPr>
          <p:cNvPr id="17" name="Shape 15"/>
          <p:cNvSpPr/>
          <p:nvPr/>
        </p:nvSpPr>
        <p:spPr>
          <a:xfrm>
            <a:off x="822960" y="4809744"/>
            <a:ext cx="128016" cy="128016"/>
          </a:xfrm>
          <a:prstGeom prst="ellipse">
            <a:avLst/>
          </a:prstGeom>
          <a:solidFill>
            <a:srgbClr val="00A896"/>
          </a:solidFill>
          <a:ln/>
        </p:spPr>
        <p:txBody>
          <a:bodyPr/>
          <a:lstStyle/>
          <a:p>
            <a:endParaRPr lang="en-EG"/>
          </a:p>
        </p:txBody>
      </p:sp>
      <p:sp>
        <p:nvSpPr>
          <p:cNvPr id="18" name="Text 16"/>
          <p:cNvSpPr/>
          <p:nvPr/>
        </p:nvSpPr>
        <p:spPr>
          <a:xfrm>
            <a:off x="1143000" y="4645152"/>
            <a:ext cx="9875520" cy="548640"/>
          </a:xfrm>
          <a:prstGeom prst="rect">
            <a:avLst/>
          </a:prstGeom>
          <a:noFill/>
          <a:ln/>
        </p:spPr>
        <p:txBody>
          <a:bodyPr wrap="square" rtlCol="0" anchor="ctr"/>
          <a:lstStyle/>
          <a:p>
            <a:pPr marL="0" indent="0">
              <a:lnSpc>
                <a:spcPts val="1800"/>
              </a:lnSpc>
              <a:buNone/>
            </a:pPr>
            <a:r>
              <a:rPr lang="en-US" sz="1400" dirty="0">
                <a:solidFill>
                  <a:srgbClr val="0B2B2E"/>
                </a:solidFill>
                <a:latin typeface="Calibri" pitchFamily="34" charset="0"/>
                <a:ea typeface="Calibri" pitchFamily="34" charset="-122"/>
                <a:cs typeface="Calibri" pitchFamily="34" charset="-120"/>
              </a:rPr>
              <a:t>Streamlit form lets a user enter a patient's clinical values and get an instant prediction + probability</a:t>
            </a:r>
            <a:endParaRPr lang="en-US" sz="1400" dirty="0"/>
          </a:p>
        </p:txBody>
      </p:sp>
      <p:sp>
        <p:nvSpPr>
          <p:cNvPr id="19" name="Shape 17"/>
          <p:cNvSpPr/>
          <p:nvPr/>
        </p:nvSpPr>
        <p:spPr>
          <a:xfrm>
            <a:off x="822960" y="5449824"/>
            <a:ext cx="128016" cy="128016"/>
          </a:xfrm>
          <a:prstGeom prst="ellipse">
            <a:avLst/>
          </a:prstGeom>
          <a:solidFill>
            <a:srgbClr val="00A896"/>
          </a:solidFill>
          <a:ln/>
        </p:spPr>
        <p:txBody>
          <a:bodyPr/>
          <a:lstStyle/>
          <a:p>
            <a:endParaRPr lang="en-EG"/>
          </a:p>
        </p:txBody>
      </p:sp>
      <p:sp>
        <p:nvSpPr>
          <p:cNvPr id="20" name="Text 18"/>
          <p:cNvSpPr/>
          <p:nvPr/>
        </p:nvSpPr>
        <p:spPr>
          <a:xfrm>
            <a:off x="1143000" y="5285232"/>
            <a:ext cx="9875520" cy="548640"/>
          </a:xfrm>
          <a:prstGeom prst="rect">
            <a:avLst/>
          </a:prstGeom>
          <a:noFill/>
          <a:ln/>
        </p:spPr>
        <p:txBody>
          <a:bodyPr wrap="square" rtlCol="0" anchor="ctr"/>
          <a:lstStyle/>
          <a:p>
            <a:pPr marL="0" indent="0">
              <a:lnSpc>
                <a:spcPts val="1800"/>
              </a:lnSpc>
              <a:buNone/>
            </a:pPr>
            <a:r>
              <a:rPr lang="en-US" sz="1400" dirty="0">
                <a:solidFill>
                  <a:srgbClr val="0B2B2E"/>
                </a:solidFill>
                <a:latin typeface="Calibri" pitchFamily="34" charset="0"/>
                <a:ea typeface="Calibri" pitchFamily="34" charset="-122"/>
                <a:cs typeface="Calibri" pitchFamily="34" charset="-120"/>
              </a:rPr>
              <a:t>Deployable for free on Streamlit Community Cloud → public URL, satisfying the project's deployment requirement</a:t>
            </a:r>
            <a:endParaRPr lang="en-US" sz="1400" dirty="0"/>
          </a:p>
        </p:txBody>
      </p:sp>
      <p:sp>
        <p:nvSpPr>
          <p:cNvPr id="21" name="Text 19"/>
          <p:cNvSpPr/>
          <p:nvPr/>
        </p:nvSpPr>
        <p:spPr>
          <a:xfrm>
            <a:off x="11274552" y="6355080"/>
            <a:ext cx="548640" cy="320040"/>
          </a:xfrm>
          <a:prstGeom prst="rect">
            <a:avLst/>
          </a:prstGeom>
          <a:noFill/>
          <a:ln/>
        </p:spPr>
        <p:txBody>
          <a:bodyPr wrap="square" rtlCol="0" anchor="ctr"/>
          <a:lstStyle/>
          <a:p>
            <a:pPr marL="0" indent="0" algn="r">
              <a:buNone/>
            </a:pPr>
            <a:r>
              <a:rPr lang="en-US" sz="1100" dirty="0">
                <a:solidFill>
                  <a:srgbClr val="5C7A7D"/>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13A40"/>
        </a:solidFill>
        <a:effectLst/>
      </p:bgPr>
    </p:bg>
    <p:spTree>
      <p:nvGrpSpPr>
        <p:cNvPr id="1" name=""/>
        <p:cNvGrpSpPr/>
        <p:nvPr/>
      </p:nvGrpSpPr>
      <p:grpSpPr>
        <a:xfrm>
          <a:off x="0" y="0"/>
          <a:ext cx="0" cy="0"/>
          <a:chOff x="0" y="0"/>
          <a:chExt cx="0" cy="0"/>
        </a:xfrm>
      </p:grpSpPr>
      <p:sp>
        <p:nvSpPr>
          <p:cNvPr id="2" name="Shape 0"/>
          <p:cNvSpPr/>
          <p:nvPr/>
        </p:nvSpPr>
        <p:spPr>
          <a:xfrm>
            <a:off x="-1828800" y="-2286000"/>
            <a:ext cx="5486400" cy="5486400"/>
          </a:xfrm>
          <a:prstGeom prst="ellipse">
            <a:avLst/>
          </a:prstGeom>
          <a:solidFill>
            <a:srgbClr val="028090">
              <a:alpha val="25000"/>
            </a:srgbClr>
          </a:solidFill>
          <a:ln/>
        </p:spPr>
        <p:txBody>
          <a:bodyPr/>
          <a:lstStyle/>
          <a:p>
            <a:endParaRPr lang="en-EG"/>
          </a:p>
        </p:txBody>
      </p:sp>
      <p:sp>
        <p:nvSpPr>
          <p:cNvPr id="3" name="Text 1"/>
          <p:cNvSpPr/>
          <p:nvPr/>
        </p:nvSpPr>
        <p:spPr>
          <a:xfrm>
            <a:off x="548640" y="365760"/>
            <a:ext cx="7315200" cy="365760"/>
          </a:xfrm>
          <a:prstGeom prst="rect">
            <a:avLst/>
          </a:prstGeom>
          <a:noFill/>
          <a:ln/>
        </p:spPr>
        <p:txBody>
          <a:bodyPr wrap="square" rtlCol="0" anchor="ctr"/>
          <a:lstStyle/>
          <a:p>
            <a:pPr marL="0" indent="0">
              <a:buNone/>
            </a:pPr>
            <a:r>
              <a:rPr lang="en-US" sz="1300" b="1" kern="0" spc="200" dirty="0">
                <a:solidFill>
                  <a:srgbClr val="02C39A"/>
                </a:solidFill>
                <a:latin typeface="Calibri" pitchFamily="34" charset="0"/>
                <a:ea typeface="Calibri" pitchFamily="34" charset="-122"/>
                <a:cs typeface="Calibri" pitchFamily="34" charset="-120"/>
              </a:rPr>
              <a:t>09 · CONCLUSION</a:t>
            </a:r>
            <a:endParaRPr lang="en-US" sz="1300" dirty="0"/>
          </a:p>
        </p:txBody>
      </p:sp>
      <p:sp>
        <p:nvSpPr>
          <p:cNvPr id="4" name="Text 2"/>
          <p:cNvSpPr/>
          <p:nvPr/>
        </p:nvSpPr>
        <p:spPr>
          <a:xfrm>
            <a:off x="548640" y="777240"/>
            <a:ext cx="9144000" cy="640080"/>
          </a:xfrm>
          <a:prstGeom prst="rect">
            <a:avLst/>
          </a:prstGeom>
          <a:noFill/>
          <a:ln/>
        </p:spPr>
        <p:txBody>
          <a:bodyPr wrap="square"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What this project shows</a:t>
            </a:r>
            <a:endParaRPr lang="en-US" sz="3200" dirty="0"/>
          </a:p>
        </p:txBody>
      </p:sp>
      <p:sp>
        <p:nvSpPr>
          <p:cNvPr id="5" name="Text 3"/>
          <p:cNvSpPr/>
          <p:nvPr/>
        </p:nvSpPr>
        <p:spPr>
          <a:xfrm>
            <a:off x="548640" y="1691640"/>
            <a:ext cx="5120640" cy="365760"/>
          </a:xfrm>
          <a:prstGeom prst="rect">
            <a:avLst/>
          </a:prstGeom>
          <a:noFill/>
          <a:ln/>
        </p:spPr>
        <p:txBody>
          <a:bodyPr wrap="square" rtlCol="0" anchor="ctr"/>
          <a:lstStyle/>
          <a:p>
            <a:pPr marL="0" indent="0">
              <a:buNone/>
            </a:pPr>
            <a:r>
              <a:rPr lang="en-US" sz="1500" b="1" dirty="0">
                <a:solidFill>
                  <a:srgbClr val="02C39A"/>
                </a:solidFill>
                <a:latin typeface="Calibri" pitchFamily="34" charset="0"/>
                <a:ea typeface="Calibri" pitchFamily="34" charset="-122"/>
                <a:cs typeface="Calibri" pitchFamily="34" charset="-120"/>
              </a:rPr>
              <a:t>Achieved</a:t>
            </a:r>
            <a:endParaRPr lang="en-US" sz="1500" dirty="0"/>
          </a:p>
        </p:txBody>
      </p:sp>
      <p:sp>
        <p:nvSpPr>
          <p:cNvPr id="6" name="Shape 4"/>
          <p:cNvSpPr/>
          <p:nvPr/>
        </p:nvSpPr>
        <p:spPr>
          <a:xfrm>
            <a:off x="548640" y="2157984"/>
            <a:ext cx="109728" cy="109728"/>
          </a:xfrm>
          <a:prstGeom prst="ellipse">
            <a:avLst/>
          </a:prstGeom>
          <a:solidFill>
            <a:srgbClr val="02C39A"/>
          </a:solidFill>
          <a:ln/>
        </p:spPr>
        <p:txBody>
          <a:bodyPr/>
          <a:lstStyle/>
          <a:p>
            <a:endParaRPr lang="en-EG"/>
          </a:p>
        </p:txBody>
      </p:sp>
      <p:sp>
        <p:nvSpPr>
          <p:cNvPr id="7" name="Text 5"/>
          <p:cNvSpPr/>
          <p:nvPr/>
        </p:nvSpPr>
        <p:spPr>
          <a:xfrm>
            <a:off x="822960" y="2011680"/>
            <a:ext cx="4846320" cy="594360"/>
          </a:xfrm>
          <a:prstGeom prst="rect">
            <a:avLst/>
          </a:prstGeom>
          <a:noFill/>
          <a:ln/>
        </p:spPr>
        <p:txBody>
          <a:bodyPr wrap="square" rtlCol="0" anchor="ctr"/>
          <a:lstStyle/>
          <a:p>
            <a:pPr marL="0" indent="0">
              <a:lnSpc>
                <a:spcPts val="1600"/>
              </a:lnSpc>
              <a:buNone/>
            </a:pPr>
            <a:r>
              <a:rPr lang="en-US" sz="1300" dirty="0">
                <a:solidFill>
                  <a:srgbClr val="E7F4F3"/>
                </a:solidFill>
                <a:latin typeface="Calibri" pitchFamily="34" charset="0"/>
                <a:ea typeface="Calibri" pitchFamily="34" charset="-122"/>
                <a:cs typeface="Calibri" pitchFamily="34" charset="-120"/>
              </a:rPr>
              <a:t>Real, messy data can be cleaned transparently and auditably</a:t>
            </a:r>
            <a:endParaRPr lang="en-US" sz="1300" dirty="0"/>
          </a:p>
        </p:txBody>
      </p:sp>
      <p:sp>
        <p:nvSpPr>
          <p:cNvPr id="8" name="Shape 6"/>
          <p:cNvSpPr/>
          <p:nvPr/>
        </p:nvSpPr>
        <p:spPr>
          <a:xfrm>
            <a:off x="548640" y="2935224"/>
            <a:ext cx="109728" cy="109728"/>
          </a:xfrm>
          <a:prstGeom prst="ellipse">
            <a:avLst/>
          </a:prstGeom>
          <a:solidFill>
            <a:srgbClr val="02C39A"/>
          </a:solidFill>
          <a:ln/>
        </p:spPr>
        <p:txBody>
          <a:bodyPr/>
          <a:lstStyle/>
          <a:p>
            <a:endParaRPr lang="en-EG"/>
          </a:p>
        </p:txBody>
      </p:sp>
      <p:sp>
        <p:nvSpPr>
          <p:cNvPr id="9" name="Text 7"/>
          <p:cNvSpPr/>
          <p:nvPr/>
        </p:nvSpPr>
        <p:spPr>
          <a:xfrm>
            <a:off x="822960" y="2788920"/>
            <a:ext cx="4846320" cy="594360"/>
          </a:xfrm>
          <a:prstGeom prst="rect">
            <a:avLst/>
          </a:prstGeom>
          <a:noFill/>
          <a:ln/>
        </p:spPr>
        <p:txBody>
          <a:bodyPr wrap="square" rtlCol="0" anchor="ctr"/>
          <a:lstStyle/>
          <a:p>
            <a:pPr marL="0" indent="0">
              <a:lnSpc>
                <a:spcPts val="1600"/>
              </a:lnSpc>
              <a:buNone/>
            </a:pPr>
            <a:r>
              <a:rPr lang="en-US" sz="1300" dirty="0">
                <a:solidFill>
                  <a:srgbClr val="E7F4F3"/>
                </a:solidFill>
                <a:latin typeface="Calibri" pitchFamily="34" charset="0"/>
                <a:ea typeface="Calibri" pitchFamily="34" charset="-122"/>
                <a:cs typeface="Calibri" pitchFamily="34" charset="-120"/>
              </a:rPr>
              <a:t>EDA across many variables confirms known clinical markers drive the signal</a:t>
            </a:r>
            <a:endParaRPr lang="en-US" sz="1300" dirty="0"/>
          </a:p>
        </p:txBody>
      </p:sp>
      <p:sp>
        <p:nvSpPr>
          <p:cNvPr id="10" name="Shape 8"/>
          <p:cNvSpPr/>
          <p:nvPr/>
        </p:nvSpPr>
        <p:spPr>
          <a:xfrm>
            <a:off x="548640" y="3712464"/>
            <a:ext cx="109728" cy="109728"/>
          </a:xfrm>
          <a:prstGeom prst="ellipse">
            <a:avLst/>
          </a:prstGeom>
          <a:solidFill>
            <a:srgbClr val="02C39A"/>
          </a:solidFill>
          <a:ln/>
        </p:spPr>
        <p:txBody>
          <a:bodyPr/>
          <a:lstStyle/>
          <a:p>
            <a:endParaRPr lang="en-EG"/>
          </a:p>
        </p:txBody>
      </p:sp>
      <p:sp>
        <p:nvSpPr>
          <p:cNvPr id="11" name="Text 9"/>
          <p:cNvSpPr/>
          <p:nvPr/>
        </p:nvSpPr>
        <p:spPr>
          <a:xfrm>
            <a:off x="822960" y="3566160"/>
            <a:ext cx="4846320" cy="594360"/>
          </a:xfrm>
          <a:prstGeom prst="rect">
            <a:avLst/>
          </a:prstGeom>
          <a:noFill/>
          <a:ln/>
        </p:spPr>
        <p:txBody>
          <a:bodyPr wrap="square" rtlCol="0" anchor="ctr"/>
          <a:lstStyle/>
          <a:p>
            <a:pPr marL="0" indent="0">
              <a:lnSpc>
                <a:spcPts val="1600"/>
              </a:lnSpc>
              <a:buNone/>
            </a:pPr>
            <a:r>
              <a:rPr lang="en-US" sz="1300" dirty="0">
                <a:solidFill>
                  <a:srgbClr val="E7F4F3"/>
                </a:solidFill>
                <a:latin typeface="Calibri" pitchFamily="34" charset="0"/>
                <a:ea typeface="Calibri" pitchFamily="34" charset="-122"/>
                <a:cs typeface="Calibri" pitchFamily="34" charset="-120"/>
              </a:rPr>
              <a:t>Feature engineering + filter selection sharpen the input space</a:t>
            </a:r>
            <a:endParaRPr lang="en-US" sz="1300" dirty="0"/>
          </a:p>
        </p:txBody>
      </p:sp>
      <p:sp>
        <p:nvSpPr>
          <p:cNvPr id="12" name="Text 10"/>
          <p:cNvSpPr/>
          <p:nvPr/>
        </p:nvSpPr>
        <p:spPr>
          <a:xfrm>
            <a:off x="6309360" y="1691640"/>
            <a:ext cx="5120640" cy="365760"/>
          </a:xfrm>
          <a:prstGeom prst="rect">
            <a:avLst/>
          </a:prstGeom>
          <a:noFill/>
          <a:ln/>
        </p:spPr>
        <p:txBody>
          <a:bodyPr wrap="square" rtlCol="0" anchor="ctr"/>
          <a:lstStyle/>
          <a:p>
            <a:pPr marL="0" indent="0">
              <a:buNone/>
            </a:pPr>
            <a:r>
              <a:rPr lang="en-US" sz="1500" b="1" dirty="0">
                <a:solidFill>
                  <a:srgbClr val="02C39A"/>
                </a:solidFill>
                <a:latin typeface="Calibri" pitchFamily="34" charset="0"/>
                <a:ea typeface="Calibri" pitchFamily="34" charset="-122"/>
                <a:cs typeface="Calibri" pitchFamily="34" charset="-120"/>
              </a:rPr>
              <a:t>Also delivered</a:t>
            </a:r>
            <a:endParaRPr lang="en-US" sz="1500" dirty="0"/>
          </a:p>
        </p:txBody>
      </p:sp>
      <p:sp>
        <p:nvSpPr>
          <p:cNvPr id="13" name="Shape 11"/>
          <p:cNvSpPr/>
          <p:nvPr/>
        </p:nvSpPr>
        <p:spPr>
          <a:xfrm>
            <a:off x="6309360" y="2157984"/>
            <a:ext cx="109728" cy="109728"/>
          </a:xfrm>
          <a:prstGeom prst="ellipse">
            <a:avLst/>
          </a:prstGeom>
          <a:solidFill>
            <a:srgbClr val="02C39A"/>
          </a:solidFill>
          <a:ln/>
        </p:spPr>
        <p:txBody>
          <a:bodyPr/>
          <a:lstStyle/>
          <a:p>
            <a:endParaRPr lang="en-EG"/>
          </a:p>
        </p:txBody>
      </p:sp>
      <p:sp>
        <p:nvSpPr>
          <p:cNvPr id="14" name="Text 12"/>
          <p:cNvSpPr/>
          <p:nvPr/>
        </p:nvSpPr>
        <p:spPr>
          <a:xfrm>
            <a:off x="6583680" y="2011680"/>
            <a:ext cx="4846320" cy="594360"/>
          </a:xfrm>
          <a:prstGeom prst="rect">
            <a:avLst/>
          </a:prstGeom>
          <a:noFill/>
          <a:ln/>
        </p:spPr>
        <p:txBody>
          <a:bodyPr wrap="square" rtlCol="0" anchor="ctr"/>
          <a:lstStyle/>
          <a:p>
            <a:pPr marL="0" indent="0">
              <a:lnSpc>
                <a:spcPts val="1600"/>
              </a:lnSpc>
              <a:buNone/>
            </a:pPr>
            <a:r>
              <a:rPr lang="en-US" sz="1300" dirty="0">
                <a:solidFill>
                  <a:srgbClr val="E7F4F3"/>
                </a:solidFill>
                <a:latin typeface="Calibri" pitchFamily="34" charset="0"/>
                <a:ea typeface="Calibri" pitchFamily="34" charset="-122"/>
                <a:cs typeface="Calibri" pitchFamily="34" charset="-120"/>
              </a:rPr>
              <a:t>3 tuned algorithms validated rigorously (CV + held-out test)</a:t>
            </a:r>
            <a:endParaRPr lang="en-US" sz="1300" dirty="0"/>
          </a:p>
        </p:txBody>
      </p:sp>
      <p:sp>
        <p:nvSpPr>
          <p:cNvPr id="15" name="Shape 13"/>
          <p:cNvSpPr/>
          <p:nvPr/>
        </p:nvSpPr>
        <p:spPr>
          <a:xfrm>
            <a:off x="6309360" y="2935224"/>
            <a:ext cx="109728" cy="109728"/>
          </a:xfrm>
          <a:prstGeom prst="ellipse">
            <a:avLst/>
          </a:prstGeom>
          <a:solidFill>
            <a:srgbClr val="02C39A"/>
          </a:solidFill>
          <a:ln/>
        </p:spPr>
        <p:txBody>
          <a:bodyPr/>
          <a:lstStyle/>
          <a:p>
            <a:endParaRPr lang="en-EG"/>
          </a:p>
        </p:txBody>
      </p:sp>
      <p:sp>
        <p:nvSpPr>
          <p:cNvPr id="16" name="Text 14"/>
          <p:cNvSpPr/>
          <p:nvPr/>
        </p:nvSpPr>
        <p:spPr>
          <a:xfrm>
            <a:off x="6583680" y="2788920"/>
            <a:ext cx="4846320" cy="594360"/>
          </a:xfrm>
          <a:prstGeom prst="rect">
            <a:avLst/>
          </a:prstGeom>
          <a:noFill/>
          <a:ln/>
        </p:spPr>
        <p:txBody>
          <a:bodyPr wrap="square" rtlCol="0" anchor="ctr"/>
          <a:lstStyle/>
          <a:p>
            <a:pPr marL="0" indent="0">
              <a:lnSpc>
                <a:spcPts val="1600"/>
              </a:lnSpc>
              <a:buNone/>
            </a:pPr>
            <a:r>
              <a:rPr lang="en-US" sz="1300" dirty="0">
                <a:solidFill>
                  <a:srgbClr val="E7F4F3"/>
                </a:solidFill>
                <a:latin typeface="Calibri" pitchFamily="34" charset="0"/>
                <a:ea typeface="Calibri" pitchFamily="34" charset="-122"/>
                <a:cs typeface="Calibri" pitchFamily="34" charset="-120"/>
              </a:rPr>
              <a:t>Strong, honest performance — precision &amp; recall far above requirement</a:t>
            </a:r>
            <a:endParaRPr lang="en-US" sz="1300" dirty="0"/>
          </a:p>
        </p:txBody>
      </p:sp>
      <p:sp>
        <p:nvSpPr>
          <p:cNvPr id="17" name="Shape 15"/>
          <p:cNvSpPr/>
          <p:nvPr/>
        </p:nvSpPr>
        <p:spPr>
          <a:xfrm>
            <a:off x="6309360" y="3712464"/>
            <a:ext cx="109728" cy="109728"/>
          </a:xfrm>
          <a:prstGeom prst="ellipse">
            <a:avLst/>
          </a:prstGeom>
          <a:solidFill>
            <a:srgbClr val="02C39A"/>
          </a:solidFill>
          <a:ln/>
        </p:spPr>
        <p:txBody>
          <a:bodyPr/>
          <a:lstStyle/>
          <a:p>
            <a:endParaRPr lang="en-EG"/>
          </a:p>
        </p:txBody>
      </p:sp>
      <p:sp>
        <p:nvSpPr>
          <p:cNvPr id="18" name="Text 16"/>
          <p:cNvSpPr/>
          <p:nvPr/>
        </p:nvSpPr>
        <p:spPr>
          <a:xfrm>
            <a:off x="6583680" y="3566160"/>
            <a:ext cx="4846320" cy="594360"/>
          </a:xfrm>
          <a:prstGeom prst="rect">
            <a:avLst/>
          </a:prstGeom>
          <a:noFill/>
          <a:ln/>
        </p:spPr>
        <p:txBody>
          <a:bodyPr wrap="square" rtlCol="0" anchor="ctr"/>
          <a:lstStyle/>
          <a:p>
            <a:pPr marL="0" indent="0">
              <a:lnSpc>
                <a:spcPts val="1600"/>
              </a:lnSpc>
              <a:buNone/>
            </a:pPr>
            <a:r>
              <a:rPr lang="en-US" sz="1300" dirty="0">
                <a:solidFill>
                  <a:srgbClr val="E7F4F3"/>
                </a:solidFill>
                <a:latin typeface="Calibri" pitchFamily="34" charset="0"/>
                <a:ea typeface="Calibri" pitchFamily="34" charset="-122"/>
                <a:cs typeface="Calibri" pitchFamily="34" charset="-120"/>
              </a:rPr>
              <a:t>A working deployed app closes the loop from data to decision support</a:t>
            </a:r>
            <a:endParaRPr lang="en-US" sz="1300" dirty="0"/>
          </a:p>
        </p:txBody>
      </p:sp>
      <p:sp>
        <p:nvSpPr>
          <p:cNvPr id="19" name="Shape 17"/>
          <p:cNvSpPr/>
          <p:nvPr/>
        </p:nvSpPr>
        <p:spPr>
          <a:xfrm>
            <a:off x="548640" y="4206240"/>
            <a:ext cx="11064240" cy="0"/>
          </a:xfrm>
          <a:prstGeom prst="line">
            <a:avLst/>
          </a:prstGeom>
          <a:noFill/>
          <a:ln w="12700">
            <a:solidFill>
              <a:srgbClr val="1B5C61"/>
            </a:solidFill>
            <a:prstDash val="solid"/>
          </a:ln>
        </p:spPr>
        <p:txBody>
          <a:bodyPr/>
          <a:lstStyle/>
          <a:p>
            <a:endParaRPr lang="en-EG"/>
          </a:p>
        </p:txBody>
      </p:sp>
      <p:sp>
        <p:nvSpPr>
          <p:cNvPr id="20" name="Text 18"/>
          <p:cNvSpPr/>
          <p:nvPr/>
        </p:nvSpPr>
        <p:spPr>
          <a:xfrm>
            <a:off x="548640" y="4389120"/>
            <a:ext cx="5486400" cy="365760"/>
          </a:xfrm>
          <a:prstGeom prst="rect">
            <a:avLst/>
          </a:prstGeom>
          <a:noFill/>
          <a:ln/>
        </p:spPr>
        <p:txBody>
          <a:bodyPr wrap="square" rtlCol="0" anchor="ctr"/>
          <a:lstStyle/>
          <a:p>
            <a:pPr marL="0" indent="0">
              <a:buNone/>
            </a:pPr>
            <a:r>
              <a:rPr lang="en-US" sz="1500" b="1" dirty="0">
                <a:solidFill>
                  <a:srgbClr val="02C39A"/>
                </a:solidFill>
                <a:latin typeface="Calibri" pitchFamily="34" charset="0"/>
                <a:ea typeface="Calibri" pitchFamily="34" charset="-122"/>
                <a:cs typeface="Calibri" pitchFamily="34" charset="-120"/>
              </a:rPr>
              <a:t>Limitations &amp; future work</a:t>
            </a:r>
            <a:endParaRPr lang="en-US" sz="1500" dirty="0"/>
          </a:p>
        </p:txBody>
      </p:sp>
      <p:sp>
        <p:nvSpPr>
          <p:cNvPr id="21" name="Text 19"/>
          <p:cNvSpPr/>
          <p:nvPr/>
        </p:nvSpPr>
        <p:spPr>
          <a:xfrm>
            <a:off x="548640" y="4800600"/>
            <a:ext cx="10698480" cy="1188720"/>
          </a:xfrm>
          <a:prstGeom prst="rect">
            <a:avLst/>
          </a:prstGeom>
          <a:noFill/>
          <a:ln/>
        </p:spPr>
        <p:txBody>
          <a:bodyPr wrap="square" rtlCol="0" anchor="ctr"/>
          <a:lstStyle/>
          <a:p>
            <a:pPr marL="0" indent="0">
              <a:lnSpc>
                <a:spcPts val="1800"/>
              </a:lnSpc>
              <a:buNone/>
            </a:pPr>
            <a:r>
              <a:rPr lang="en-US" sz="1350" dirty="0">
                <a:solidFill>
                  <a:srgbClr val="D7ECEA"/>
                </a:solidFill>
                <a:latin typeface="Calibri" pitchFamily="34" charset="0"/>
                <a:ea typeface="Calibri" pitchFamily="34" charset="-122"/>
                <a:cs typeface="Calibri" pitchFamily="34" charset="-120"/>
              </a:rPr>
              <a:t>Single-hospital, 400-patient dataset — external multi-site validation needed before real clinical use. Median/mode imputation could be replaced with model-based imputation. Explainable-AI methods (e.g. SHAP) could make individual predictions more interpretable for clinicians.</a:t>
            </a:r>
            <a:endParaRPr lang="en-US" sz="1350" dirty="0"/>
          </a:p>
        </p:txBody>
      </p:sp>
      <p:sp>
        <p:nvSpPr>
          <p:cNvPr id="22" name="Text 20"/>
          <p:cNvSpPr/>
          <p:nvPr/>
        </p:nvSpPr>
        <p:spPr>
          <a:xfrm>
            <a:off x="11274552" y="6355080"/>
            <a:ext cx="548640" cy="320040"/>
          </a:xfrm>
          <a:prstGeom prst="rect">
            <a:avLst/>
          </a:prstGeom>
          <a:noFill/>
          <a:ln/>
        </p:spPr>
        <p:txBody>
          <a:bodyPr wrap="square" rtlCol="0" anchor="ctr"/>
          <a:lstStyle/>
          <a:p>
            <a:pPr marL="0" indent="0" algn="r">
              <a:buNone/>
            </a:pPr>
            <a:r>
              <a:rPr lang="en-US" sz="1100" dirty="0">
                <a:solidFill>
                  <a:srgbClr val="5C7A7D"/>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4845A0EE-C4C8-4AE1-B3C6-1261368AC0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468548" cy="6858000"/>
          </a:xfrm>
          <a:prstGeom prst="rect">
            <a:avLst/>
          </a:prstGeom>
          <a:solidFill>
            <a:srgbClr val="4866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7EDEBAEC-52CC-F2F6-3894-8C9C444D1F4A}"/>
              </a:ext>
            </a:extLst>
          </p:cNvPr>
          <p:cNvSpPr txBox="1"/>
          <p:nvPr/>
        </p:nvSpPr>
        <p:spPr>
          <a:xfrm>
            <a:off x="621629" y="640080"/>
            <a:ext cx="4225290" cy="5578816"/>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4400" b="1" kern="1200">
                <a:solidFill>
                  <a:srgbClr val="FFFFFF"/>
                </a:solidFill>
                <a:latin typeface="+mj-lt"/>
                <a:ea typeface="+mj-ea"/>
                <a:cs typeface="+mj-cs"/>
              </a:rPr>
              <a:t>The streamlit app screenshot </a:t>
            </a:r>
          </a:p>
        </p:txBody>
      </p:sp>
      <p:pic>
        <p:nvPicPr>
          <p:cNvPr id="7" name="Picture 6">
            <a:extLst>
              <a:ext uri="{FF2B5EF4-FFF2-40B4-BE49-F238E27FC236}">
                <a16:creationId xmlns:a16="http://schemas.microsoft.com/office/drawing/2014/main" id="{33C5A6AD-EBEE-C9AD-2903-FB4AAC2A5239}"/>
              </a:ext>
            </a:extLst>
          </p:cNvPr>
          <p:cNvPicPr>
            <a:picLocks noChangeAspect="1"/>
          </p:cNvPicPr>
          <p:nvPr/>
        </p:nvPicPr>
        <p:blipFill>
          <a:blip r:embed="rId2"/>
          <a:srcRect l="26957" t="16603" r="28724" b="6328"/>
          <a:stretch>
            <a:fillRect/>
          </a:stretch>
        </p:blipFill>
        <p:spPr>
          <a:xfrm>
            <a:off x="6357943" y="640080"/>
            <a:ext cx="4935584" cy="5578816"/>
          </a:xfrm>
          <a:prstGeom prst="rect">
            <a:avLst/>
          </a:prstGeom>
        </p:spPr>
      </p:pic>
    </p:spTree>
    <p:extLst>
      <p:ext uri="{BB962C8B-B14F-4D97-AF65-F5344CB8AC3E}">
        <p14:creationId xmlns:p14="http://schemas.microsoft.com/office/powerpoint/2010/main" val="17545779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13A40"/>
        </a:solidFill>
        <a:effectLst/>
      </p:bgPr>
    </p:bg>
    <p:spTree>
      <p:nvGrpSpPr>
        <p:cNvPr id="1" name=""/>
        <p:cNvGrpSpPr/>
        <p:nvPr/>
      </p:nvGrpSpPr>
      <p:grpSpPr>
        <a:xfrm>
          <a:off x="0" y="0"/>
          <a:ext cx="0" cy="0"/>
          <a:chOff x="0" y="0"/>
          <a:chExt cx="0" cy="0"/>
        </a:xfrm>
      </p:grpSpPr>
      <p:sp>
        <p:nvSpPr>
          <p:cNvPr id="2" name="Shape 0"/>
          <p:cNvSpPr/>
          <p:nvPr/>
        </p:nvSpPr>
        <p:spPr>
          <a:xfrm>
            <a:off x="8686800" y="2926080"/>
            <a:ext cx="5486400" cy="5486400"/>
          </a:xfrm>
          <a:prstGeom prst="ellipse">
            <a:avLst/>
          </a:prstGeom>
          <a:solidFill>
            <a:srgbClr val="028090">
              <a:alpha val="28000"/>
            </a:srgbClr>
          </a:solidFill>
          <a:ln/>
        </p:spPr>
        <p:txBody>
          <a:bodyPr/>
          <a:lstStyle/>
          <a:p>
            <a:endParaRPr lang="en-EG"/>
          </a:p>
        </p:txBody>
      </p:sp>
      <p:sp>
        <p:nvSpPr>
          <p:cNvPr id="3" name="Text 1"/>
          <p:cNvSpPr/>
          <p:nvPr/>
        </p:nvSpPr>
        <p:spPr>
          <a:xfrm>
            <a:off x="822960" y="2468880"/>
            <a:ext cx="9144000" cy="1005840"/>
          </a:xfrm>
          <a:prstGeom prst="rect">
            <a:avLst/>
          </a:prstGeom>
          <a:noFill/>
          <a:ln/>
        </p:spPr>
        <p:txBody>
          <a:bodyPr wrap="square"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4" name="Text 2"/>
          <p:cNvSpPr/>
          <p:nvPr/>
        </p:nvSpPr>
        <p:spPr>
          <a:xfrm>
            <a:off x="822960" y="3383280"/>
            <a:ext cx="9144000" cy="548640"/>
          </a:xfrm>
          <a:prstGeom prst="rect">
            <a:avLst/>
          </a:prstGeom>
          <a:noFill/>
          <a:ln/>
        </p:spPr>
        <p:txBody>
          <a:bodyPr wrap="square" rtlCol="0" anchor="ctr"/>
          <a:lstStyle/>
          <a:p>
            <a:pPr marL="0" indent="0">
              <a:buNone/>
            </a:pPr>
            <a:r>
              <a:rPr lang="en-US" sz="1800" i="1" dirty="0">
                <a:solidFill>
                  <a:srgbClr val="02C39A"/>
                </a:solidFill>
                <a:latin typeface="Calibri" pitchFamily="34" charset="0"/>
                <a:ea typeface="Calibri" pitchFamily="34" charset="-122"/>
                <a:cs typeface="Calibri" pitchFamily="34" charset="-120"/>
              </a:rPr>
              <a:t>Questions &amp; Discussion</a:t>
            </a:r>
            <a:endParaRPr lang="en-US" sz="1800" dirty="0"/>
          </a:p>
        </p:txBody>
      </p:sp>
      <p:sp>
        <p:nvSpPr>
          <p:cNvPr id="5" name="Text 3"/>
          <p:cNvSpPr/>
          <p:nvPr/>
        </p:nvSpPr>
        <p:spPr>
          <a:xfrm>
            <a:off x="822960" y="4114800"/>
            <a:ext cx="8229600" cy="457200"/>
          </a:xfrm>
          <a:prstGeom prst="rect">
            <a:avLst/>
          </a:prstGeom>
          <a:noFill/>
          <a:ln/>
        </p:spPr>
        <p:txBody>
          <a:bodyPr wrap="square" rtlCol="0" anchor="ctr"/>
          <a:lstStyle/>
          <a:p>
            <a:pPr marL="0" indent="0">
              <a:buNone/>
            </a:pPr>
            <a:r>
              <a:rPr lang="en-US" sz="1300" dirty="0">
                <a:solidFill>
                  <a:srgbClr val="BFE3E0"/>
                </a:solidFill>
                <a:latin typeface="Calibri" pitchFamily="34" charset="0"/>
                <a:ea typeface="Calibri" pitchFamily="34" charset="-122"/>
                <a:cs typeface="Calibri" pitchFamily="34" charset="-120"/>
              </a:rPr>
              <a:t>Repository, notebook, report, and live app link available in the project README.</a:t>
            </a:r>
            <a:endParaRPr lang="en-US" sz="1300" dirty="0"/>
          </a:p>
        </p:txBody>
      </p:sp>
      <p:sp>
        <p:nvSpPr>
          <p:cNvPr id="6" name="Text 4"/>
          <p:cNvSpPr/>
          <p:nvPr/>
        </p:nvSpPr>
        <p:spPr>
          <a:xfrm>
            <a:off x="11274552" y="6355080"/>
            <a:ext cx="548640" cy="320040"/>
          </a:xfrm>
          <a:prstGeom prst="rect">
            <a:avLst/>
          </a:prstGeom>
          <a:noFill/>
          <a:ln/>
        </p:spPr>
        <p:txBody>
          <a:bodyPr wrap="square" rtlCol="0" anchor="ctr"/>
          <a:lstStyle/>
          <a:p>
            <a:pPr marL="0" indent="0" algn="r">
              <a:buNone/>
            </a:pPr>
            <a:r>
              <a:rPr lang="en-US" sz="1100" dirty="0">
                <a:solidFill>
                  <a:srgbClr val="5C7A7D"/>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2159</Words>
  <Application>Microsoft Macintosh PowerPoint</Application>
  <PresentationFormat>Widescreen</PresentationFormat>
  <Paragraphs>194</Paragraphs>
  <Slides>13</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Calibri Light</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Ahmed abdelmonem reyad</cp:lastModifiedBy>
  <cp:revision>3</cp:revision>
  <dcterms:created xsi:type="dcterms:W3CDTF">2026-08-11T22:13:16Z</dcterms:created>
  <dcterms:modified xsi:type="dcterms:W3CDTF">2026-08-11T22:31:30Z</dcterms:modified>
</cp:coreProperties>
</file>